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Day 3 — Mergers, Remedies &amp; Litigation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CCCCCC"/>
                </a:solidFill>
                <a:latin typeface="Calibri"/>
              </a:rPr>
              <a:t>Predicting effects, fixing harm, IP, and proving it in a tribunal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E69F00"/>
                </a:solidFill>
                <a:latin typeface="Calibri"/>
              </a:rPr>
              <a:t>Antitrust Methods: Research and Practice  ·  Practitioner short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3.1 — Merger analysis and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Mergers are prospective: we predict effects that have not happened yet.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Mergers are prospective — the job is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Conduct cases look backwards at what a firm did; merger review looks forward at what a combined firm will do — the evidence is largely predictive, not historical.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Three economic theories of harm, plus — in SA — a fourth, non-competition question (public interest) that can override them.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agency carries an initial burden (a prima facie case); the parties then rebut with efficiencies, entry, or failing-firm arguments.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Outputs are not just block / clear: the realistic menu is clear, condition (remedy), or prohibit.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Screen cheap, quantify dear: GUPPI and diversion screens come first; full simulation only where the screen flags concern.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three theories of merger harm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Unilateral effects.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merged firm raises price on its own because sales lost to a price rise are recaptured by the partner (diversion). No coordination needed.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Coordinated effects.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merger makes tacit collusion among the remaining firms easier — fewer players, more symmetry/transparency, or removal of a maverick.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Vertical / conglomerate effects.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Input foreclosure, customer foreclosure, or leverage/bundling across products.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Plus the SA fourth question that can override all three: the public-interest test (§12A(3)) — employment, SMEs, spread of ownership.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Unilateral effects: UPP and GUPPI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Screen the price pressure from diversion to the merging partner. For product A merging with B: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UPP_A = D_AB × (P_B − C_B) − E_A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GUPPI_A = D_AB × M_B × (P_B / P_A)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D_AB = diversion from A to B; (P_B − C_B) = the PARTNER's dollar margin; E_A = an efficiency credit. Use the partner's margin, not A's own.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GUPPI expresses the same pressure as a percentage of A's price; M_B is the partner's percentage margin and (P_B/P_A) rescales.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Rule of thumb: GUPPI above ~5% warrants a closer look. First-order price rise ≈ pass-through × UPP (≈ UPP/2).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economics: a lost sale that returns to the family is no longer a cost of raising price — the merged firm internalises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Diversion ratios — where the lost sales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Diversion is the direction and strength of competition between two products — the most load-bearing number in unilateral-effects 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D₁₂ = (sales gained by 2) / (sales lost by 1 when P₁ rises)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Sources: switching/win-loss data, customer surveys (the 'second-choice' question), a demand model, or — weakest — share-proportional diversion (D ≈ s_B / (1 − s_A)).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Patient-flow / catchment / second-choice data usually beat share-proportional; supplied diversion above the proportional benchmark means the parties are CLOSER rivals than shares imply.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Aggregate diversion (sum to all merging products) gauges total recapture and overall upward pricing pressure.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a logit merger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helper run_logit_sim(). Turns shares + margins + diversion into predicted price rises.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products &lt;- data.frame(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product=c("A","B","C"), firm=c("A","B","C"),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price=c(100,95,90), share=c(.4,.35,.25), mc=c(60,58,55))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run_logit_sim(products, merging_firms=c("A","B"))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pre/post price, % change, ownership matrix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Simulation needs a demand model and margins; GUPPI needs only diversion + margin. Screen with GUPPI, quantify with simulation.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Coordinated effects — the maverick and the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Maverick-firm theory: harm often comes from the merger removing or absorbing a maverick — the disruptive price-cutter that destabilises tacit coordination.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Facilitating factors (the checklist): transparency of prices/terms, product homogeneity, symmetric firms and costs, stable demand, and high entry barriers.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workable tacit scheme needs three things: reach a common understanding, detect deviation, and punish it credibly.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Evidence: count the firms, measure symmetry, look for price-announcement or information-exchange practices, and ask whether the target IS the maverick.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Coordinated-effects theories are harder to prove than unilateral ones — courts want a plausible mechanism, not just 'few firms'.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merger review process — burden and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Notification: turnover/asset thresholds trigger mandatory filing (SA: large/intermediate mergers; US: HSR; EU: EUMR turnover tests).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Second phase: a 'second request' (US) / Phase II (EU) / referral to the Tribunal (SA large mergers) — deeper analysis on the flagged theory.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Burden: the agency makes a prima facie case (often via the structural presumption); the parties then rebut.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Standard: US Clayton §7 'substantially lessen competition'; EU SIEC; SA §12A + the §12A(3) public-interest overlay.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Outcome menu: clear unconditionally / clear with conditions (structural or behavioural) / prohibit.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Efficiencies and entry — the rebuttal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Efficiencies can offset price pressure, but must be merger-specific, verifiable, and passed through to consumers — burden on the parties.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Marginal-cost savings discipline price; fixed-cost savings usually do not (they don't change the pricing incentive).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Entry rebuts harm only if it is timely, likely, and sufficient to deter or counteract the price rise.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failing-firm defence is narrow: the firm must be failing, with no less-anticompetitive buyer and assets otherwise exiting.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 SA, efficiencies and entry sit alongside — and can be outweighed by — the public-interest assessment.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Staples / Office Depot — the econometric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An econometric price regression carried the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FTC's challenge rested on a large-scale price regression: ~400+ stores × ~18 months, regressing prices on the number of office-superstore competitors in each local market.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Result: prices were materially higher where Staples faced no superstore rival — the model predicted roughly an ~8.49% price increase going from three superstore firms to one (monopoly).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An event study on the merger announcement / FTC challenge dates corroborated the direction: stock moves were consistent with the market expecting the merger to raise prices.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court enjoined the merger — an early, influential win for an econometric model on unilateral effects.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transparent, replicable price regression on real transaction data can beat a market-definition argument — example-led merger economics at its strongest.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Walmart / Massmart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Cleared on competition grounds, fought on public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Walmart's acquisition of Massmart (2011, case 73/LM/Nov10) raised few horizontal competition concerns.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battle was public interest: effects on local suppliers and on jobs. Approved with conditions — a supplier-development fund, honouring existing labour agreements, and limits on merger-specific retrenchments (with some reinstatements).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conditions were litigated up to the CAC, which refined how public-interest conditions are framed and supervised over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merger can pass the competition test and still be reshaped — or saved — by public-interest conditions.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Burger King (Grand Parade / ECP)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Prohibited PURELY on a public-interest (ownership) 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foreign private-equity buyer sought to acquire the SA Burger King franchise from Grand Parade.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Commission prohibited it in 2021 because it cut shareholding by historically disadvantaged persons from a high level toward zero — the first SA merger blocked solely on the spread-of-ownership limb of public interest.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It was later approved once the parties offered an employee/HDP ownership and worker commitment.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Public interest is not a tie-breaker bolted onto competition analysis — in SA it can be the whole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3.2 — Merger retrospectives and natural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Predicting effects is half the job; checking the predictions is how the system learns.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Why look back at cleared mergers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Merger review is prediction; retrospectives check the predictions against what actually happened — the only feedback loop the system has.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point is institutional learning: were the price forecasts right, were efficiencies realised, did remedies work?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Methods: difference-in-differences, event studies, synthetic controls, and re-estimated structural models on post-merger data.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credible designs lean on a clean control — an unaffected product, region, or comparable transaction that did not experience the merger.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Retrospectives are also a litigation asset: an expert who pre-commits a retrospective design looks far more credible than one who reverse-engineers a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the retrospective literature finds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Efficiency claims are often overstated and frequently not passed through to consumers — the rebuttal that wins approval often does not materialise.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Behavioural remedies often underperform structural ones — conduct rules get gamed, monitoring lapses, and the fix expires.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Some cleared mergers raised prices — evidence that enforcement was, in places, too lenient at the margin.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asymmetry: blocked mergers can't be studied counterfactually, so the literature is built mostly from cleared deals — a selection caveat.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Practitioner upshot: discount unverified efficiency promises and favour structural relief where it is feasible.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Natural experiments in competition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Deregulation episodes are policy's natural experiments: airline deregulation (1978), the AT&amp;T breakup (1984), banking-branching liberalisation, and electricity restructuring.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Antitrust-law changes also serve: the US corporate leniency program (1993) revision sharply changed cartel-detection incentives — a clean before/after.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Each gives a sharp, often discontinuous change in the competitive environment that is plausibly exogenous to the firms studied.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Design discipline: identify treated and control groups, check pre-trends, and worry about confounding shocks that coincide with the date.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These episodes are the empirical backbone of much of what we know about how concentration maps to prices.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Liebersohn (2017) — banking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 regulatory HHI threshold as a natural experiment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Setting: US merger rules require divestiture where a merger pushes a market's HHI up by ≥ 200 to above 1,800 — a sharp, rule-based threshold.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Design: difference-in-differences comparing markets just inside vs. just outside a 500-point band around the 1,800 cutoff — similar in everything but whether the rule bound.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Result: where the rule forced more competition, banks did more lending to larger, safer borrowers — concentration had been constraining credit supply.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Clean-design check: no bunching of mergers just below the cutoff — firms were not gaming the threshold.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regulatory threshold is a gift to the empiricist — it manufactures the discontinuity a credible causal design needs.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Whirlpool / Maytag — appliances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 scanner-data post-merger retrospective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Post-merger evaluation using scanner (point-of-sale) data across appliance categories after the Whirlpool–Maytag combination.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Design: use freezers as a control category (little affected by the merger) against the treated categories to net out common shocks.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Finding: prices for dishwashers and dryers rose post-merger, while the control category did not move the same way — consistent with exercised market power.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model retrospective: real transaction data, a defensible control, and a transparent before/after anyone can replicate.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Ex-post evidence like this is exactly what should discipline the next appliance-merger prediction.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3.3 — Remedies and regulation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Finding harm is half the job. A remedy must be effective AND administrable.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Structural vs. behavioural remedies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029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Structural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Divestiture of a business / assets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Clean break; little ongoing monitoring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Preferred where feasible (US/EU default)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Risk: divestiture package too weak to compete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5029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Behavioural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Conduct rules: access, pricing, firewalls, non-discrimination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Needs ongoing supervision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Common in SA (public-interest conditions; Tribunal-supervised)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Risk: gaming, monitoring burden, expiry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Remedy 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remedy must be effective (it actually cures the identified harm) AND administrable (the Tribunal can monitor and enforce it).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Match the remedy to the theory of harm: structural for horizontal overlap; access/firewall conduct rules for vertical foreclosure.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Prefer remedies with clear, measurable compliance triggers over open-ended 'behave well' obligations.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Build in monitoring: reporting duties, a compliance trustee/monitor, and a sunset or review date.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Recall the retrospective lesson — behavioural remedies underperform — so use them where structure is impractical, and supervise hard.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Access pricing: ECPR and the revenue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When the remedy is access to a bottleneck (telecoms, rail, ports), you must set a price: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ECPR access price = direct cost + opportunity cost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Revenue requirement = opex + depreciation + (return × rate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ECPR (efficient component pricing rule) lets an efficient entrant in while compensating the incumbent — the benchmark in margin-squeeze remedies.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Rate regulation builds allowed revenue from costs plus a fair return on capital; the contested number is the allowed return.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Rate base = the regulated asset value on which the return is earned; gold-plating it is the classic incumbent strategy.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Benchmarking / yardstick: compare the regulated firm to comparable firms or regions to discipline its cost claims.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Benchmarking and yardstick regulation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Yardstick regulation ties a firm's allowed prices/costs to the performance of comparators, breaking the regulator's information dependence on the firm.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Works best with many comparable units (regional utilities, water boards, port terminals) facing similar conditions.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Methods range from simple peer ratio benchmarks to frontier techniques (DEA, stochastic frontier analysis) that estimate an efficient cost frontier.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trap: comparators must be genuinely comparable — adjust for scale, density, and input prices or the firm will (rightly) attack the benchmark.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 SA, sector regulators (energy, ports/rail, telecoms) increasingly lean on benchmarking to test cost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Evanston Northwestern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The canonical BEHAVIOURAL hospital-merger remedy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consummated hospital merger found to have raised prices.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Rather than unwind it (structural), the FTC imposed a behavioural remedy: separate, independent negotiating teams for the two hospitals when bargaining with insurers.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An effective conduct fix where divestiture of an integrated hospital was impractical — at the cost of ongoing supervision.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When structural relief is impractical, a well-designed conduct remedy can restore the lost competition — if someone watches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Tying it to SA — Tribunal-supervised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Behavioural and public-interest conditions are the SA norm, not the exception — the Tribunal routinely supervises conditions over years.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Typical machinery: reporting obligations, a compliance monitor/trustee, defined remedies for breach, and periodic review by the Tribunal.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CAC's refinements (Walmart/Massmart) shape how conditions are drafted so they are enforceable, not aspirational.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design lesson and the SA institutional reality coincide: a remedy is only as good as the body that can supervise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3.4 — Innovation, IP, and antitrust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Where the right to exclude (a patent) meets the duty not to exclude (competition law).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SEPs and FRAND: hold-up vs hold-out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Once a standard is set, an SEP holder can hold up implementers; FRAND commitments are the check.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Cumulative royalty = Σ (royalty rate_i)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Hold-up: threaten an injunction post-adoption to extract supra-FRAND rates. Hold-out: implementers delay/underpay, free-riding on the standard.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FRAND (fair, reasonable, non-discriminatory) is the licensing promise made to the standard body — the legal hinge of SEP disputes.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Huawei v. ZTE (EU 2015): a negotiation framework — the SEP holder must offer FRAND terms before seeking an injunction; the implementer must respond in good faith.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Unwired Planet (UK 2017): courts will set a global FRAND rate, not just a national one — a major jurisdictional escalation.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Royalty stacking — the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 problem: many SEP holders each charging a 'reasonable' rate that stacks to an unviable total.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Cumulative royalty = Σ (royalty rate_i)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Worked figure: 10 holders × 5% each = 50% of the device price in royalties — manufacturing becomes unprofitable on any normal margin.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Each individual demand can look defensible; the aggregate is what kills the product. FRAND and the ND limb exist to contain the stack.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Remedy logic: aggregate royalty caps, top-down rate-setting from a total reasonable royalty, and patent-pool licensing.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Pay-for-delay — FTC v. Actavis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Reverse-payment ('pay-for-delay') settlements.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A brand pays a generic to stay out of the market — the brand keeps the monopoly, both split the rents.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FTC v. Actavis (US 2013).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No 'scope of the patent' shield — even within the patent's nominal scope, a reverse payment is judged under the rule of reason.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key signal: a large, unexplained reverse payment is itself evidence of anticompetitive intent — its size proxies the value of the avoided competition.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Damages logic: harm ≈ (P_brand − P_generic) × volume × delay — the consumer overcharge from postponed generic entry.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Killer acquisitions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Killer acquisition: an incumbent buys a nascent rival to shut its pipeline, not for synergies — pre-emptive elimination of future competition.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Cunningham, Ederer &amp; Ma (2021) estimate roughly 5–7% of pharma deals are killer acquisitions — small in count, large in lost innovation.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test: compare project discontinuation rates, acquired vs. independent — acquired overlapping projects are dropped more often.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enforcement gap: many such deals fall below notification thresholds (the target has little revenue) — hence share-of-supply and call-in powers.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Live in digital and pharma policy debates (the 'string of nascent-rival acquisitions' theory in platform cases).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Appellate caution — Qualcomm,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FTC v. Qualcomm: the district court found liability, but the 9th Circuit REVERSED (2021) — no duty to deal, and the licensing practices were not shown to harm competition under §2. Cite the reversal, not the headline.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EU: the Commission's €997m exclusivity-payment fine on Qualcomm was ANNULLED by the General Court (2022) on procedural and substantive grounds.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Lesson: the most-cited 'abuse' stories were undone on appeal in both jurisdictions — carry the outcome, not the press release.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This is the IP-and-dominance counterpart to the recurring habit: cite outcomes, not headlines (Sasol, Media24, Intel, Qualcomm).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ARV / antiretroviral 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IP, access to medicines, and competition law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SA competition complaints over antiretroviral pricing pushed originators toward voluntary licences expanding generic supply.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Method mix: medicine price data, the patent landscape, and SAHPRA registration timelines to estimate the harm from delayed generic entry.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Sits at the intersection of §8 abuse, IP rights, and a pressing public-health interest — excessive-pricing and refusal-to-licence theories under SA dominance law.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In SA the IP-vs-competition question has been about access to life-saving medicines, not abstract royalty rates.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3.5 — Research integrity and credibility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How much should you believe any number — including your own?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research-credibility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wave of evidence shows much published empirical work does not replicate — directly threatening expert testimony built on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Four interacting culprits: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Publication bias (only significant results get out), specification searching (p-hacking), low statistical power, and outright replication failures.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an expert this is not academic hygiene — it is cross-examination risk: opposing counsel will probe every degree of freedom you took.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defence is transparency: pre-commit the design, disclose the specification space, and make the work reproducible end to end.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This module is the methodological conscience of the course — it governs how much to believe any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Ioannidis PPV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Why most published 'findings' in a hot, low-powered field can be false — the positive predictive value of a significant result: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PPV = (1 − β) R / [ (1 − β) R + α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PPV = probability a 'significant' finding is true. β = false-negative rate (so 1 − β = power); R = prior odds the hypothesis is true; α = significance level.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Good practice — high power, plausible prior — and an ideal field can hit ~89% true positives.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 hot field — many teams testing long-shots, low power — and PPV can collapse toward ~20%: most 'discoveries' are false.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Reading: one significant result from a low-powered study in a hot literature is weak evidence, statistics notwithstanding.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Publication bias and the file drawer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file-drawer problem: null results sit unpublished in drawers; significant results get out — so the published literature over-represents positives.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Consequence: published effect sizes are inflated, because only the larger, 'significant' estimates clear the journal filter.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Diagnostic: the funnel plot — effect size vs. precision; symmetry suggests no bias, a missing corner (small null studies) signals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Tools: trim-and-fill, p-curve, and (best) pre-registration so the result exists regardless of significance.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experts: a literature that looks unanimous may be an artefact of the filter — weight it accordingly.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Multiple testing — the garden of forking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Run enough tests and a 'significant' result is guaranteed by chance. With n independent tests at level α: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P(≥1 false positive) = 1 − (1 − α)ⁿ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At α = 0.05: 10 tests → ~40% chance of at least one false positive; 20 tests → ~64%.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garden of forking paths: even without formal multiple testing, flexible choices (controls, subsamples, transformations) implicitly search the space.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Corrections: Bonferroni (divide α by n — conservative), Holm, or FDR control for many tests.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real fix: a pre-analysis plan that fixes hypotheses and specifications before seeing outcomes. 'How many specifications did you run?' is a deadly cross-exam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replication crisis in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Replication efforts in economics find roughly half of studies fail to reproduce the original result — comparable to the psychology numbers.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Causes mirror the rest of the module: small samples, researcher degrees of freedom, weak data, and selective reporting.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Distinguish reproducibility (same data + code → same numbers) from replicability (new data → same finding) — experts owe at least the first.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Journals' response: mandatory data-and-code archives and replication packages — increasingly expected of expert reports too.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Advocacy lesson: build your analysis so a hostile third party can re-run it and get your numbers — the strongest credibility signal there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FTC's nine characteristics of useful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practical checklist for credible econometric work: (1) addresses a relevant issue; (2) consistent with economic theory; (3) reflects institutional facts; (4) uses appropriate data; (5) uses suitable techniques;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(6) realistic about its limits; (7) tests robustness; (8) is replicable; (9) communicates clearly to a non-technical decision-maker.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most common deficiencies in practice: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Institutional disconnect (the model ignores how the industry actually works), data-quality problems, and poor communication.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Use it as a self-audit before filing — and as a cross-examination map of the OTHER side's report.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It rhymes with the rest of the module: relevance, robustness, and replicability are the recurring themes.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Pre-analysis plans and open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Pre-analysis plans (PAPs): register hypotheses, specifications, and the analysis path before seeing the data — the antidote to forking paths and p-hacking.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Open data and code: post the cleaning and analysis scripts (GitHub) and the data (Dataverse) so the result is independently checkable.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Registration: clinical-trial-style registries (AEA RCT Registry, OSF) timestamp the design and deter selective reporting.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reproducible lockfile (renv / pinned packages) means the analysis runs identically years later — when the matter is finally heard.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These practices are migrating from journals into agency and tribunal expectations of expert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Reproducibility IS advocacy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clean /data /scripts /reports bundle with a lockfile is not just good science — it is your cross-examination defence.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If the whole pipeline runs from raw data to final exhibit with one command, you answer 'did you cherry-pick?' with a demonstration, not a denial.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Run the sensitivity analysis BEFORE opposing counsel does — disclose the specifications that don't change the answer, and explain the ones that do.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reproducible report lets you update fast when new data arrives mid-matter — re-run, don't rebuild.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single highest-leverage habit in expert work: make your conclusion mechanically reproducible from the inputs.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3.6 — Litigation practice and expert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Where the evidence triad meets cross-examination.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Getting expert evidence admitted — Daubert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— the Daubert gate.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judge is a gatekeeper; four (non-exclusive) factors: testability/falsifiability, known/potential error rate, peer review/publication, and general acceptance in the field.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Build the report to satisfy each: state the method's error properties, cite the peer-reviewed basis, and use accepted techniques.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Kumho Tire extended Daubert beyond 'scientific' to all expert testimony, including economics.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gate excludes ipse dixit — 'trust me, I'm an expert' — so every step from data to conclusion must be defensible on its 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Contrast with the more flexible weight-not-admissibility approach of the SA Tribunal and UK/Australian courts.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Class certification — Dukes and Comcast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Wal-Mart v. Dukes (2011).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Commonality requires a common QUESTION whose answer drives the resolution of the class's claims — not just a shared characteristic.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Comcast v. Behrend (2013).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damages model must match the theory of liability and be capable of measurement on a class-wide basis.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experts: a common-impact regression must show the violation affected the class in common, and the damages methodology must be common — not a patchwork of individual inquiries.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mismatch between liability theory and damages model is now a certification-killer — align them from the start.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SA &amp; concurrent expert evidence ('hot-tubbing')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Concurrent expert evidence ('hot-tubbing', from Australia, used in the UK and SA): opposing experts are sworn together and questioned side by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Before the hearing they file a joint statement itemising points of agreement and disagreement — narrowing the real dispute for the tribunal.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SA Tribunal's flexible procedure favours this over a rigid Daubert-style admissibility gate: weight, not exclusion, and direct expert-to-expert testing.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Advantage: the tribunal hears the genuine disagreement in real time, not filtered through advocates — and experts are disciplined by a peer in the box.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Prepare differently: you must be able to defend every choice live, against a knowledgeable opponent, on the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Three damages models — and how to defend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Before/after: compare the violation period to a clean benchmark window for the same market — validate that the break is the violation, not a shock.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Yardstick: compare the affected market to an unaffected comparator market — defend the comparability of the yardstick.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Difference-in-differences: changes over time, treated vs. untreated — the workhorse, with clustered SEs (or randomisation inference for few clusters).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Each needs an explicit counterfactual ('but-for' world); the fight is always over which benchmark is clean.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Pair the point estimate with its confidence interval — the tribunal is buying the uncertainty, not just the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expert report — structure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Real reports follow a stable spine (cf. Farber in Moussouris v. Microsoft; Card in the Harvard admissions case):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Qualifications → Assignment → Executive summary → Institutional background &amp; data → Methodology &amp; variable selection → Analyses → Damages → Rebuttal.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Variable selection is where reports live or die: avoid 'tainted' controls — variables that are themselves products of the challenged conduct (don't control away your own effect).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executive summary must be readable by a generalist judge; the methodology must be replicable by a hostile economist — write to both.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rebuttal section pre-empts the other side: address the obvious robustness attacks before they are made.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Significance and treble damages — the checkable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 two numbers an expert is asked for on the stand: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t = coefficient / standard error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US exposure = 3 × (overcharge rate × commerce)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 = 2.5 / 0.5 = 5.0 → beyond the 1% critical value (~2.58) → common impact is statistically significant.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Commerce $200m at a 15% overcharge → $30m single → $90m trebled (US, automatic treble for Sherman Act violations).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In SA, follow-on civil damages recover actual loss (≈ single) WITHOUT the US multiplier — same overcharge, very different exposure by forum.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Always pair the point estimate with its uncertainty — the tribunal is buying the confidence interval, not just the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Capstone — a hospital merger,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Hospitals A and B propose to merge. Work the evidence triad to a recommendation.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data (supplied)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2194560"/>
                <a:gridCol w="2194560"/>
                <a:gridCol w="22860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Hospital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Discharges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Margin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$12,000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$11,000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15,000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6,000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1">
                <a:solidFill>
                  <a:srgbClr val="555555"/>
                </a:solidFill>
                <a:latin typeface="Calibri"/>
              </a:rPr>
              <a:t>Diversion: A→B = 0.32, A→C = 0.30, B→A = 0.45. Total discharges = 100,000. A and B propose to merge.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— the seven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1. Market definition — patient-flow / critical-loss reasoning for the geographic market.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2. Concentration — HHI, post-merger HHI, ΔHHI.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3. Diversion — patient-flow ratios vs. share-proportional diversion.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4. Unilateral effects — GUPPI for A and for B.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5. Bargaining — Nash-in-Nash: how the merger shifts the disagreement payoff in insurer negotiations (qualitative here).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6. Retrospective design — pre-commit a DiD with leads/lags to test the effect after the fact.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7. Recommendation — translate to the legal standard (US Clayton §7 / EU SIEC / SA §12 + §12A(3)) and recommend clear / condition / prohibit.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— the checkable answers (steps 2–4)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These three steps have exact answers; bring them to the memo.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HHI: pre 2,202 → post 3,402,  ΔHHI = 1,200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GUPPI_A = 0.32 × 0.35 × (11/12) = 10.3%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GUPPI_B = 0.45 × 0.40 × (12/11) = 19.6%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ΔHHI = 2 × 30 × 20 = 1,200; post-HHI well above 1,800 → structural presumption (under either guidelines vintage).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Both GUPPIs exceed the ~5% screen; B's is larger because A is the bigger, higher-margin recapture target.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Share-proportional diversion A→B = 20/70 = 0.286 &lt; supplied 0.32 → A and B are CLOSER substitutes than shares imply.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— verify the HHI in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helper calc_hhi_change(). Merging firms passed by NAME.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hosp &lt;- data.frame(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firm  = c("A","B","C","D","E","F"),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share = c(.30,.20,.25,.15,.06,.04))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calc_hhi_change(hosp, merging_firms = c("A","B"))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pre_hhi 2202 ; post_hhi 3402 ; delta_hhi 1200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helper reproduces the hand arithmetic exactly — pre 2,202, post 3,402, Δ 1,200. Always tie the code back to the checkable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deliverable — the memo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365760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698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Write a 2–3 page recommendation memo on the A/B hospital merger.</a:t>
            </a:r>
          </a:p>
          <a:p>
            <a:pPr algn="l" lvl="1">
              <a:lnSpc>
                <a:spcPct val="110000"/>
              </a:lnSpc>
              <a:spcAft>
                <a:spcPts val="10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Required computations: HHI / ΔHHI, both GUPPIs (show the arithmetic).</a:t>
            </a:r>
          </a:p>
          <a:p>
            <a:pPr algn="l" lvl="1">
              <a:lnSpc>
                <a:spcPct val="110000"/>
              </a:lnSpc>
              <a:spcAft>
                <a:spcPts val="10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Required reasoning: define the market, classify the unilateral-effects concern, and address one efficiency or entry rebuttal.</a:t>
            </a:r>
          </a:p>
          <a:p>
            <a:pPr algn="l" lvl="1">
              <a:lnSpc>
                <a:spcPct val="110000"/>
              </a:lnSpc>
              <a:spcAft>
                <a:spcPts val="10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Required framing: choose ONE jurisdiction (US / EU / SA), state its legal test, and recommend clear / condition / prohibit — for SA, address §12A(3) public interest explicitly.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Deliverable: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A tribunal-ready memo: numbers correct, tied to the legal standard, uncertainty acknowledged. Model answer in the key.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Course close — the habits to keep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1.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Institutions first: know the forum's test before you pick a method.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2.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The evidence triad: never rest a conclusion on one leg — empirics, documents, and judgment together.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3.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Screen cheap, quantify dear: GUPPI before simulation, a variance screen before a full damages model.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4.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Cite outcomes, not headlines: carry the SA and EU appellate history (Sasol, Media24, Intel, Qualcomm).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5.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Reproducibility is advocacy — a one-command pipeline from raw data to exhibit is your best cross-examination defence.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6.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In South Africa, public interest can be the whole case — and a remedy is only as good as the body that can supervise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