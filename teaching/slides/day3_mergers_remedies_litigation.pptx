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73152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Day 3 — Mergers, Remedies &amp; Litigation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0" i="0">
                <a:solidFill>
                  <a:srgbClr val="CCCCCC"/>
                </a:solidFill>
                <a:latin typeface="Calibri"/>
              </a:rPr>
              <a:t>Predicting effects, fixing harm, IP, and proving it in a tribunal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521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E69F00"/>
                </a:solidFill>
                <a:latin typeface="Calibri"/>
              </a:rPr>
              <a:t>Antitrust Methods: Research and Practice  ·  Practitioner short course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0"/>
            <a:ext cx="36576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13716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Module 3.1 — Merger analysis and simulation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0">
                <a:solidFill>
                  <a:srgbClr val="DDEEFF"/>
                </a:solidFill>
                <a:latin typeface="Calibri"/>
              </a:rPr>
              <a:t>Mergers are prospective: we predict effects that have not happened yet.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The three theories of merger harm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Unilateral effects.</a:t>
            </a:r>
          </a:p>
          <a:p>
            <a:pPr algn="l" lvl="1">
              <a:lnSpc>
                <a:spcPct val="105000"/>
              </a:lnSpc>
              <a:spcAft>
                <a:spcPts val="900"/>
              </a:spcAft>
            </a:pPr>
            <a:r>
              <a:rPr sz="1700" b="0" i="0">
                <a:solidFill>
                  <a:srgbClr val="555555"/>
                </a:solidFill>
                <a:latin typeface="Calibri"/>
              </a:rPr>
              <a:t>–  The merged firm raises price on its own because sales lost to a price rise are recaptured by the partner (diversion). No coordination needed.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Coordinated effects.</a:t>
            </a:r>
          </a:p>
          <a:p>
            <a:pPr algn="l" lvl="1">
              <a:lnSpc>
                <a:spcPct val="105000"/>
              </a:lnSpc>
              <a:spcAft>
                <a:spcPts val="900"/>
              </a:spcAft>
            </a:pPr>
            <a:r>
              <a:rPr sz="1700" b="0" i="0">
                <a:solidFill>
                  <a:srgbClr val="555555"/>
                </a:solidFill>
                <a:latin typeface="Calibri"/>
              </a:rPr>
              <a:t>–  The merger makes tacit collusion among the remaining firms easier (fewer players, more symmetry, more transparency).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Vertical / conglomerate effects.</a:t>
            </a:r>
          </a:p>
          <a:p>
            <a:pPr algn="l" lvl="1">
              <a:lnSpc>
                <a:spcPct val="105000"/>
              </a:lnSpc>
              <a:spcAft>
                <a:spcPts val="900"/>
              </a:spcAft>
            </a:pPr>
            <a:r>
              <a:rPr sz="1700" b="0" i="0">
                <a:solidFill>
                  <a:srgbClr val="555555"/>
                </a:solidFill>
                <a:latin typeface="Calibri"/>
              </a:rPr>
              <a:t>–  Input foreclosure, customer foreclosure, or leverage across products.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Plus the SA fourth question that can override all three: the public-interest test (§12A(3)).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Day 3 · Mergers, remedies, IP &amp; litigation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Unilateral effects: UPP and GUPPI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0" i="0">
                <a:solidFill>
                  <a:srgbClr val="222222"/>
                </a:solidFill>
                <a:latin typeface="Calibri"/>
              </a:rPr>
              <a:t>Screen the price pressure from diversion to the merging partner. For product A merging with B: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240280"/>
            <a:ext cx="9966960" cy="1371600"/>
          </a:xfrm>
          <a:prstGeom prst="rect">
            <a:avLst/>
          </a:prstGeom>
          <a:solidFill>
            <a:srgbClr val="F2F2F2"/>
          </a:solidFill>
          <a:ln w="12700">
            <a:solidFill>
              <a:srgbClr val="E69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377440"/>
            <a:ext cx="96012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 i="0">
                <a:solidFill>
                  <a:srgbClr val="0072B2"/>
                </a:solidFill>
                <a:latin typeface="Consolas"/>
              </a:rPr>
              <a:t>UPP_A = D_AB × (P_B − C_B) − E_A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 i="0">
                <a:solidFill>
                  <a:srgbClr val="0072B2"/>
                </a:solidFill>
                <a:latin typeface="Consolas"/>
              </a:rPr>
              <a:t>GUPPI_A = D_AB × M_B × (P_B / P_A)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931920"/>
            <a:ext cx="110642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•  D_AB = diversion from A to B; (P_B − C_B) = the PARTNER's dollar margin; E_A = an efficiency credit. Use the partner's margin, not A's own.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•  GUPPI expresses the same pressure as a percentage of A's price; M_B is the partner's percentage margin and (P_B/P_A) rescales.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•  Rule of thumb: GUPPI above ~5% warrants a closer look. First-order price rise ≈ pass-through × UPP (≈ UPP/2).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Day 3 · Mergers, remedies, IP &amp; litigation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Code as demo — a logit merger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1">
                <a:solidFill>
                  <a:srgbClr val="555555"/>
                </a:solidFill>
                <a:latin typeface="Calibri"/>
              </a:rPr>
              <a:t>Book helper run_logit_sim(). Turns shares + margins + diversion into predicted price rises.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11064240" cy="31089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20240"/>
            <a:ext cx="1069848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 i="0">
                <a:solidFill>
                  <a:srgbClr val="E6E6E6"/>
                </a:solidFill>
                <a:latin typeface="Consolas"/>
              </a:rPr>
              <a:t>source("program/R/helpers.R")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 i="0">
                <a:solidFill>
                  <a:srgbClr val="E6E6E6"/>
                </a:solidFill>
                <a:latin typeface="Consolas"/>
              </a:rPr>
              <a:t>products &lt;- data.frame(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 i="0">
                <a:solidFill>
                  <a:srgbClr val="E6E6E6"/>
                </a:solidFill>
                <a:latin typeface="Consolas"/>
              </a:rPr>
              <a:t>  product=c("A","B","C"), firm=c("A","B","C"),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 i="0">
                <a:solidFill>
                  <a:srgbClr val="E6E6E6"/>
                </a:solidFill>
                <a:latin typeface="Consolas"/>
              </a:rPr>
              <a:t>  price=c(100,95,90), share=c(.4,.35,.25), mc=c(60,58,55))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 i="0">
                <a:solidFill>
                  <a:srgbClr val="E6E6E6"/>
                </a:solidFill>
                <a:latin typeface="Consolas"/>
              </a:rPr>
              <a:t>run_logit_sim(products, merging_firms=c("A","B"))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 i="0">
                <a:solidFill>
                  <a:srgbClr val="E6E6E6"/>
                </a:solidFill>
                <a:latin typeface="Consolas"/>
              </a:rPr>
              <a:t>#&gt; pre/post price, % change, ownership matrix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074920"/>
            <a:ext cx="11064240" cy="1097280"/>
          </a:xfrm>
          <a:prstGeom prst="rect">
            <a:avLst/>
          </a:prstGeom>
          <a:solidFill>
            <a:srgbClr val="F2F2F2"/>
          </a:solidFill>
          <a:ln w="12700">
            <a:solidFill>
              <a:srgbClr val="009E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166360"/>
            <a:ext cx="10698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3000"/>
              </a:lnSpc>
              <a:spcAft>
                <a:spcPts val="600"/>
              </a:spcAft>
            </a:pPr>
            <a:r>
              <a:rPr sz="1600" b="1" i="0">
                <a:solidFill>
                  <a:srgbClr val="009E73"/>
                </a:solidFill>
                <a:latin typeface="Calibri"/>
              </a:rPr>
              <a:t>Point at:  </a:t>
            </a:r>
            <a:r>
              <a:rPr sz="1600" b="0" i="0">
                <a:solidFill>
                  <a:srgbClr val="222222"/>
                </a:solidFill>
                <a:latin typeface="Calibri"/>
              </a:rPr>
              <a:t>Simulation needs a demand model and margins; GUPPI needs only diversion + margin. Screen with GUPPI, quantify with simulation.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Day 3 · Mergers, remedies, IP &amp; litigation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Efficiencies and entry — the rebuttal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Efficiencies can offset price pressure, but they must be merger-specific, verifiable, and passed through to consumers — the burden is on the merging parties.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Marginal-cost savings discipline price; fixed-cost savings usually do not (they don't change the pricing incentive).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Entry rebuts harm only if it is timely, likely, and sufficient.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In SA, efficiencies and entry sit alongside — and can be outweighed by — the public-interest assessment.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Day 3 · Mergers, remedies, IP &amp; litigation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Walmart / Massmart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463040" cy="457200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4630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188720"/>
            <a:ext cx="9418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009E73"/>
                </a:solidFill>
                <a:latin typeface="Calibri"/>
              </a:rPr>
              <a:t>Cleared on competition grounds, fought on public interest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110642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500" b="1" i="0">
                <a:solidFill>
                  <a:srgbClr val="555555"/>
                </a:solidFill>
                <a:latin typeface="Calibri"/>
              </a:rPr>
              <a:t>Facts &amp; analysis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•  Walmart's acquisition of Massmart (2011, case 73/LM/Nov10) raised few horizontal competition concerns.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•  The battle was public interest: effects on local suppliers and on jobs. Approved with conditions — a supplier-development fund, honouring existing labour agreements, and limits on merger-specific retrenchments (with some reinstatements).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•  The conditions were litigated up to the CAC, which refined how public-interest conditions are framed and supervised.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212080"/>
            <a:ext cx="11064240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009E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303520"/>
            <a:ext cx="106984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3000"/>
              </a:lnSpc>
              <a:spcAft>
                <a:spcPts val="600"/>
              </a:spcAft>
            </a:pPr>
            <a:r>
              <a:rPr sz="1600" b="1" i="0">
                <a:solidFill>
                  <a:srgbClr val="009E73"/>
                </a:solidFill>
                <a:latin typeface="Calibri"/>
              </a:rPr>
              <a:t>Why it matters:  </a:t>
            </a:r>
            <a:r>
              <a:rPr sz="1600" b="0" i="0">
                <a:solidFill>
                  <a:srgbClr val="222222"/>
                </a:solidFill>
                <a:latin typeface="Calibri"/>
              </a:rPr>
              <a:t>The canonical SA lesson: a merger can pass the competition test and still be reshaped — or saved — by public-interest conditions.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Day 3 · Mergers, remedies, IP &amp; litigation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Burger King (Grand Parade / ECP)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463040" cy="457200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4630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188720"/>
            <a:ext cx="9418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009E73"/>
                </a:solidFill>
                <a:latin typeface="Calibri"/>
              </a:rPr>
              <a:t>Prohibited PURELY on a public-interest (ownership) ground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110642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500" b="1" i="0">
                <a:solidFill>
                  <a:srgbClr val="555555"/>
                </a:solidFill>
                <a:latin typeface="Calibri"/>
              </a:rPr>
              <a:t>Facts &amp; analysis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•  A foreign private-equity buyer sought to acquire the SA Burger King franchise from Grand Parade.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•  The Commission prohibited it in 2021 because it cut shareholding by historically disadvantaged persons from a high level toward zero — the first SA merger blocked solely on the spread-of-ownership limb of public interest.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•  It was later approved once the parties offered an employee/HDP ownership and worker commitment.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212080"/>
            <a:ext cx="11064240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009E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303520"/>
            <a:ext cx="106984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3000"/>
              </a:lnSpc>
              <a:spcAft>
                <a:spcPts val="600"/>
              </a:spcAft>
            </a:pPr>
            <a:r>
              <a:rPr sz="1600" b="1" i="0">
                <a:solidFill>
                  <a:srgbClr val="009E73"/>
                </a:solidFill>
                <a:latin typeface="Calibri"/>
              </a:rPr>
              <a:t>Why it matters:  </a:t>
            </a:r>
            <a:r>
              <a:rPr sz="1600" b="0" i="0">
                <a:solidFill>
                  <a:srgbClr val="222222"/>
                </a:solidFill>
                <a:latin typeface="Calibri"/>
              </a:rPr>
              <a:t>Public interest is not a tie-breaker bolted onto competition analysis — in SA it can be the whole case.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Day 3 · Mergers, remedies, IP &amp; litigation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0"/>
            <a:ext cx="36576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13716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Module 3.2 — Remedies and regulation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0">
                <a:solidFill>
                  <a:srgbClr val="DDEEFF"/>
                </a:solidFill>
                <a:latin typeface="Calibri"/>
              </a:rPr>
              <a:t>Finding harm is half the job. A remedy must be effective AND administrable.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Structural vs. behavioural remedies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394960" cy="50292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25296"/>
            <a:ext cx="5120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Structural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521208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•  Divestiture of a business / assets</a:t>
            </a:r>
          </a:p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•  Clean break; little ongoing monitoring</a:t>
            </a:r>
          </a:p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•  Preferred where feasible (US/EU default)</a:t>
            </a:r>
          </a:p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•  Risk: divestiture package too weak to compete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188720"/>
            <a:ext cx="5394960" cy="502920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225296"/>
            <a:ext cx="5120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Behavioural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521208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•  Conduct rules: access, pricing, firewalls, non-discrimination</a:t>
            </a:r>
          </a:p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•  Needs ongoing supervision</a:t>
            </a:r>
          </a:p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•  Common in SA (public-interest conditions; Tribunal-supervised)</a:t>
            </a:r>
          </a:p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•  Risk: gaming, monitoring burden, expiry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Day 3 · Mergers, remedies, IP &amp; litigation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Access pricing: ECPR and the revenue requirement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0" i="0">
                <a:solidFill>
                  <a:srgbClr val="222222"/>
                </a:solidFill>
                <a:latin typeface="Calibri"/>
              </a:rPr>
              <a:t>When the remedy is access to a bottleneck (telecoms, rail, ports), you must set a price: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240280"/>
            <a:ext cx="9966960" cy="1371600"/>
          </a:xfrm>
          <a:prstGeom prst="rect">
            <a:avLst/>
          </a:prstGeom>
          <a:solidFill>
            <a:srgbClr val="F2F2F2"/>
          </a:solidFill>
          <a:ln w="12700">
            <a:solidFill>
              <a:srgbClr val="E69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377440"/>
            <a:ext cx="96012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 i="0">
                <a:solidFill>
                  <a:srgbClr val="0072B2"/>
                </a:solidFill>
                <a:latin typeface="Consolas"/>
              </a:rPr>
              <a:t>ECPR access price = direct cost + opportunity cost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 i="0">
                <a:solidFill>
                  <a:srgbClr val="0072B2"/>
                </a:solidFill>
                <a:latin typeface="Consolas"/>
              </a:rPr>
              <a:t>Revenue requirement = opex + depreciation + (return × rate base)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931920"/>
            <a:ext cx="110642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•  ECPR (efficient component pricing rule) lets an efficient entrant in while compensating the incumbent — the benchmark in margin-squeeze remedies.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•  Rate regulation builds the allowed revenue from costs plus a fair return on capital; the contested number is the allowed return.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•  Benchmarking / yardstick: compare the regulated firm to comparable firms or regions to discipline its cost claims.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Day 3 · Mergers, remedies, IP &amp; litigation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Evanston Northwestern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463040" cy="45720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4630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188720"/>
            <a:ext cx="9418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0072B2"/>
                </a:solidFill>
                <a:latin typeface="Calibri"/>
              </a:rPr>
              <a:t>The canonical BEHAVIOURAL hospital-merger remedy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110642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500" b="1" i="0">
                <a:solidFill>
                  <a:srgbClr val="555555"/>
                </a:solidFill>
                <a:latin typeface="Calibri"/>
              </a:rPr>
              <a:t>Facts &amp; analysis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•  A consummated hospital merger found to have raised prices.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•  Rather than unwind it (structural), the FTC imposed a behavioural remedy: separate, independent negotiating teams for the two hospitals when bargaining with insurers.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•  Shows the trade-off: an effective behavioural fix where divestiture of an integrated hospital was impractical — at the cost of ongoing supervision.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212080"/>
            <a:ext cx="11064240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007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303520"/>
            <a:ext cx="106984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3000"/>
              </a:lnSpc>
              <a:spcAft>
                <a:spcPts val="600"/>
              </a:spcAft>
            </a:pPr>
            <a:r>
              <a:rPr sz="1600" b="1" i="0">
                <a:solidFill>
                  <a:srgbClr val="0072B2"/>
                </a:solidFill>
                <a:latin typeface="Calibri"/>
              </a:rPr>
              <a:t>Why it matters:  </a:t>
            </a:r>
            <a:r>
              <a:rPr sz="1600" b="0" i="0">
                <a:solidFill>
                  <a:srgbClr val="222222"/>
                </a:solidFill>
                <a:latin typeface="Calibri"/>
              </a:rPr>
              <a:t>When structural relief is impractical, a well-designed conduct remedy can restore the lost competition — if someone watches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Day 3 · Mergers, remedies, IP &amp; litigation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0"/>
            <a:ext cx="36576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13716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Module 3.3 — Innovation, IP, and antitrust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0">
                <a:solidFill>
                  <a:srgbClr val="DDEEFF"/>
                </a:solidFill>
                <a:latin typeface="Calibri"/>
              </a:rPr>
              <a:t>Where the right to exclude (a patent) meets the duty not to exclude (competition law).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Standard-essential patents: hold-up and royalty stacking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0" i="0">
                <a:solidFill>
                  <a:srgbClr val="222222"/>
                </a:solidFill>
                <a:latin typeface="Calibri"/>
              </a:rPr>
              <a:t>Once a standard is set, an SEP holder can hold up implementers; FRAND commitments are the check.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240280"/>
            <a:ext cx="9966960" cy="1371600"/>
          </a:xfrm>
          <a:prstGeom prst="rect">
            <a:avLst/>
          </a:prstGeom>
          <a:solidFill>
            <a:srgbClr val="F2F2F2"/>
          </a:solidFill>
          <a:ln w="12700">
            <a:solidFill>
              <a:srgbClr val="E69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377440"/>
            <a:ext cx="96012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 i="0">
                <a:solidFill>
                  <a:srgbClr val="0072B2"/>
                </a:solidFill>
                <a:latin typeface="Consolas"/>
              </a:rPr>
              <a:t>Cumulative royalty = Σ (royalty rate_i)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931920"/>
            <a:ext cx="110642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•  Hold-up: threaten an injunction post-adoption to extract supra-FRAND rates. Hold-out: implementers delay/underpay.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•  Royalty stacking: 10 SEP holders each asking 5% = 50% of the device price — manufacturing becomes unprofitable.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•  Key law: Huawei v. ZTE (EU 2015 negotiation framework); Unwired Planet (UK 2017, courts will set a global FRAND rate).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Day 3 · Mergers, remedies, IP &amp; litigation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Pay-for-delay and killer acquisitions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Reverse-payment ('pay-for-delay') settlements.</a:t>
            </a:r>
          </a:p>
          <a:p>
            <a:pPr algn="l" lvl="1">
              <a:lnSpc>
                <a:spcPct val="105000"/>
              </a:lnSpc>
              <a:spcAft>
                <a:spcPts val="900"/>
              </a:spcAft>
            </a:pPr>
            <a:r>
              <a:rPr sz="1700" b="0" i="0">
                <a:solidFill>
                  <a:srgbClr val="555555"/>
                </a:solidFill>
                <a:latin typeface="Calibri"/>
              </a:rPr>
              <a:t>–  A brand pays a generic to stay out. FTC v. Actavis (US 2013): no 'scope of the patent' shield — rule of reason, and a large unexplained payment is itself evidence of anticompetitive intent.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Killer acquisitions.</a:t>
            </a:r>
          </a:p>
          <a:p>
            <a:pPr algn="l" lvl="1">
              <a:lnSpc>
                <a:spcPct val="105000"/>
              </a:lnSpc>
              <a:spcAft>
                <a:spcPts val="900"/>
              </a:spcAft>
            </a:pPr>
            <a:r>
              <a:rPr sz="1700" b="0" i="0">
                <a:solidFill>
                  <a:srgbClr val="555555"/>
                </a:solidFill>
                <a:latin typeface="Calibri"/>
              </a:rPr>
              <a:t>–  An incumbent buys a nascent rival to shut its pipeline, not for synergies (Cunningham et al. 2021 estimate ~5–7% of pharma deals). Test: compare project discontinuation rates, acquired vs. independent.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Watch the appellate record: FTC v. Qualcomm reversed (9th Cir. 2021); the EU Qualcomm exclusivity fine (€997m) annulled (GC 2022). Cite outcomes, not headlines.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Day 3 · Mergers, remedies, IP &amp; litigation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ARV / pharmaceutical access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463040" cy="457200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4630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188720"/>
            <a:ext cx="9418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 i="0">
                <a:solidFill>
                  <a:srgbClr val="009E73"/>
                </a:solidFill>
                <a:latin typeface="Calibri"/>
              </a:rPr>
              <a:t>IP, access to medicines, and competition law together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110642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500" b="1" i="0">
                <a:solidFill>
                  <a:srgbClr val="555555"/>
                </a:solidFill>
                <a:latin typeface="Calibri"/>
              </a:rPr>
              <a:t>Facts &amp; analysis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•  SA competition complaints over antiretroviral pricing pushed originators toward voluntary licences expanding generic supply.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•  Method mix: medicine price data, the patent landscape, and SAHPRA registration timelines to estimate the harm from delayed generic entry.</a:t>
            </a:r>
          </a:p>
          <a:p>
            <a:pPr algn="l">
              <a:lnSpc>
                <a:spcPct val="104000"/>
              </a:lnSpc>
              <a:spcAft>
                <a:spcPts val="700"/>
              </a:spcAft>
            </a:pPr>
            <a:r>
              <a:rPr sz="1600" b="0" i="0">
                <a:solidFill>
                  <a:srgbClr val="222222"/>
                </a:solidFill>
                <a:latin typeface="Calibri"/>
              </a:rPr>
              <a:t>•  Sits at the intersection of §8 abuse, IP rights, and a pressing public-health interest.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212080"/>
            <a:ext cx="11064240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009E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303520"/>
            <a:ext cx="106984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3000"/>
              </a:lnSpc>
              <a:spcAft>
                <a:spcPts val="600"/>
              </a:spcAft>
            </a:pPr>
            <a:r>
              <a:rPr sz="1600" b="1" i="0">
                <a:solidFill>
                  <a:srgbClr val="009E73"/>
                </a:solidFill>
                <a:latin typeface="Calibri"/>
              </a:rPr>
              <a:t>Why it matters:  </a:t>
            </a:r>
            <a:r>
              <a:rPr sz="1600" b="0" i="0">
                <a:solidFill>
                  <a:srgbClr val="222222"/>
                </a:solidFill>
                <a:latin typeface="Calibri"/>
              </a:rPr>
              <a:t>In SA the IP-vs-competition question is not abstract — it has been about access to life-saving medicines.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Day 3 · Mergers, remedies, IP &amp; litigation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0"/>
            <a:ext cx="36576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13716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Module 3.4 — Litigation practice and expert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0">
                <a:solidFill>
                  <a:srgbClr val="DDEEFF"/>
                </a:solidFill>
                <a:latin typeface="Calibri"/>
              </a:rPr>
              <a:t>Where the evidence triad meets cross-examination.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Getting expert evidence admitted and believed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US — the Daubert gate.</a:t>
            </a:r>
          </a:p>
          <a:p>
            <a:pPr algn="l" lvl="1">
              <a:lnSpc>
                <a:spcPct val="105000"/>
              </a:lnSpc>
              <a:spcAft>
                <a:spcPts val="900"/>
              </a:spcAft>
            </a:pPr>
            <a:r>
              <a:rPr sz="1700" b="0" i="0">
                <a:solidFill>
                  <a:srgbClr val="555555"/>
                </a:solidFill>
                <a:latin typeface="Calibri"/>
              </a:rPr>
              <a:t>–  Four factors: testability/falsifiability, known error rate, peer review, general acceptance. Build the report to satisfy each.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Class certification.</a:t>
            </a:r>
          </a:p>
          <a:p>
            <a:pPr algn="l" lvl="1">
              <a:lnSpc>
                <a:spcPct val="105000"/>
              </a:lnSpc>
              <a:spcAft>
                <a:spcPts val="900"/>
              </a:spcAft>
            </a:pPr>
            <a:r>
              <a:rPr sz="1700" b="0" i="0">
                <a:solidFill>
                  <a:srgbClr val="555555"/>
                </a:solidFill>
                <a:latin typeface="Calibri"/>
              </a:rPr>
              <a:t>–  Wal-Mart v. Dukes (commonality: a common question that drives the answer); Comcast v. Behrend (the damages model must match the theory of liability and be common to the class).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South Africa &amp; UK/Australia — concurrent expert evidence ('hot tubbing').</a:t>
            </a:r>
          </a:p>
          <a:p>
            <a:pPr algn="l" lvl="1">
              <a:lnSpc>
                <a:spcPct val="105000"/>
              </a:lnSpc>
              <a:spcAft>
                <a:spcPts val="900"/>
              </a:spcAft>
            </a:pPr>
            <a:r>
              <a:rPr sz="1700" b="0" i="0">
                <a:solidFill>
                  <a:srgbClr val="555555"/>
                </a:solidFill>
                <a:latin typeface="Calibri"/>
              </a:rPr>
              <a:t>–  Experts are sworn together and answer in turn; a joint statement lists agreement and disagreement before the hearing. The SA Tribunal's flexible procedure favours this over rigid Daubert gatekeeping.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Day 3 · Mergers, remedies, IP &amp; litigation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Three damages models — and how to defend them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Before/after: compare the violation period to a clean benchmark window (validate the break).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Yardstick: compare the affected market to an unaffected comparator market.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Difference-in-differences: compare changes over time, treated vs. untreated — the workhorse, with clustered SEs (or randomisation inference for few clusters).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Reproducibility IS advocacy: a clean /data /scripts /reports bundle with a lockfile is both scientific best practice and your defence under cross-examination — run the sensitivity analysis BEFORE opposing counsel does.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Day 3 · Mergers, remedies, IP &amp; litigation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Significance and treble damages — the checkable 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0" i="0">
                <a:solidFill>
                  <a:srgbClr val="222222"/>
                </a:solidFill>
                <a:latin typeface="Calibri"/>
              </a:rPr>
              <a:t>The two numbers an expert is asked for on the stand: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240280"/>
            <a:ext cx="9966960" cy="1371600"/>
          </a:xfrm>
          <a:prstGeom prst="rect">
            <a:avLst/>
          </a:prstGeom>
          <a:solidFill>
            <a:srgbClr val="F2F2F2"/>
          </a:solidFill>
          <a:ln w="12700">
            <a:solidFill>
              <a:srgbClr val="E69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377440"/>
            <a:ext cx="96012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 i="0">
                <a:solidFill>
                  <a:srgbClr val="0072B2"/>
                </a:solidFill>
                <a:latin typeface="Consolas"/>
              </a:rPr>
              <a:t>t = coefficient / standard error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 i="0">
                <a:solidFill>
                  <a:srgbClr val="0072B2"/>
                </a:solidFill>
                <a:latin typeface="Consolas"/>
              </a:rPr>
              <a:t>US exposure = 3 × (overcharge rate × commerce)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931920"/>
            <a:ext cx="110642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•  t = 2.5 / 0.5 = 5.0 → beyond the 1% critical value (~2.58) → common impact is statistically significant.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•  Commerce $200m at a 15% overcharge → $30m single → $90m trebled (US). In SA, follow-on civil damages without the multiplier.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•  Always pair the point estimate with its uncertainty — the tribunal is buying the confidence interval, not just the number.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Day 3 · Mergers, remedies, IP &amp; litigation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0"/>
            <a:ext cx="36576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13716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Capstone — a hospital merger, end to 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0">
                <a:solidFill>
                  <a:srgbClr val="DDEEFF"/>
                </a:solidFill>
                <a:latin typeface="Calibri"/>
              </a:rPr>
              <a:t>Hospitals A and B propose to merge. Work the evidence triad to a recommendation.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Capstone data (supplied)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34440"/>
          <a:ext cx="1124712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377440"/>
                <a:gridCol w="2194560"/>
                <a:gridCol w="2194560"/>
                <a:gridCol w="2286000"/>
              </a:tblGrid>
              <a:tr h="600891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Hospital</a:t>
                      </a:r>
                    </a:p>
                  </a:txBody>
                  <a:tcPr marL="73152" marR="73152" marT="27432" marB="27432" anchor="ctr">
                    <a:solidFill>
                      <a:srgbClr val="0072B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Discharges</a:t>
                      </a:r>
                    </a:p>
                  </a:txBody>
                  <a:tcPr marL="73152" marR="73152" marT="27432" marB="27432" anchor="ctr">
                    <a:solidFill>
                      <a:srgbClr val="0072B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Share</a:t>
                      </a:r>
                    </a:p>
                  </a:txBody>
                  <a:tcPr marL="73152" marR="73152" marT="27432" marB="27432" anchor="ctr">
                    <a:solidFill>
                      <a:srgbClr val="0072B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Price</a:t>
                      </a:r>
                    </a:p>
                  </a:txBody>
                  <a:tcPr marL="73152" marR="73152" marT="27432" marB="27432" anchor="ctr">
                    <a:solidFill>
                      <a:srgbClr val="0072B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Margin</a:t>
                      </a:r>
                    </a:p>
                  </a:txBody>
                  <a:tcPr marL="73152" marR="73152" marT="27432" marB="27432" anchor="ctr">
                    <a:solidFill>
                      <a:srgbClr val="0072B2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30,000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30%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$12,000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40%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20,000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20%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$11,000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35%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25,000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25%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15,000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15%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6,000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6%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00894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4,000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4%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66928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1">
                <a:solidFill>
                  <a:srgbClr val="555555"/>
                </a:solidFill>
                <a:latin typeface="Calibri"/>
              </a:rPr>
              <a:t>Diversion: A→B = 0.32, A→C = 0.30, B→A = 0.45. Total discharges = 100,000. A and B propose to merge.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Day 3 · Mergers, remedies, IP &amp; litigation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Capstone — the seven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1. Market definition — patient-flow / critical-loss reasoning for the geographic market.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2. Concentration — HHI, post-merger HHI, ΔHHI.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3. Diversion — patient-flow ratios vs. share-proportional diversion.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4. Unilateral effects — GUPPI for A and for B.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5. Bargaining — Nash-in-Nash: how the merger shifts the disagreement payoff in insurer negotiations (qualitative here).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6. Retrospective design — pre-commit a DiD with leads/lags to test the effect after the fact.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2000" b="0" i="0">
                <a:solidFill>
                  <a:srgbClr val="222222"/>
                </a:solidFill>
                <a:latin typeface="Calibri"/>
              </a:rPr>
              <a:t>•  7. Recommendation — translate to the legal standard (US Clayton §7 / EU SIEC / SA §12 + §12A(3)) and recommend clear / condition / prohibit.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Day 3 · Mergers, remedies, IP &amp; litigation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Capstone — the checkable answers (steps 2–4)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0" i="0">
                <a:solidFill>
                  <a:srgbClr val="222222"/>
                </a:solidFill>
                <a:latin typeface="Calibri"/>
              </a:rPr>
              <a:t>These three steps have exact answers; bring them to the memo.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240280"/>
            <a:ext cx="9966960" cy="1371600"/>
          </a:xfrm>
          <a:prstGeom prst="rect">
            <a:avLst/>
          </a:prstGeom>
          <a:solidFill>
            <a:srgbClr val="F2F2F2"/>
          </a:solidFill>
          <a:ln w="12700">
            <a:solidFill>
              <a:srgbClr val="E69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377440"/>
            <a:ext cx="96012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 i="0">
                <a:solidFill>
                  <a:srgbClr val="0072B2"/>
                </a:solidFill>
                <a:latin typeface="Consolas"/>
              </a:rPr>
              <a:t>HHI: pre 2,202 → post 3,402,  ΔHHI = 1,200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 i="0">
                <a:solidFill>
                  <a:srgbClr val="0072B2"/>
                </a:solidFill>
                <a:latin typeface="Consolas"/>
              </a:rPr>
              <a:t>GUPPI_A = 0.32 × 0.35 × (11/12) = 10.3%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 i="0">
                <a:solidFill>
                  <a:srgbClr val="0072B2"/>
                </a:solidFill>
                <a:latin typeface="Consolas"/>
              </a:rPr>
              <a:t>GUPPI_B = 0.45 × 0.40 × (12/11) = 19.6%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931920"/>
            <a:ext cx="110642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•  ΔHHI = 2 × 30 × 20 = 1,200; post-HHI well above 1,800 → structural presumption (under either guidelines vintage).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•  Both GUPPIs exceed the ~5% screen; B's is larger because A is the bigger, higher-margin recapture target.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•  Step 7 has no single right answer — it is graded on whether the numbers are tied correctly to the chosen legal standard.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Day 3 · Mergers, remedies, IP &amp; litigation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Course close — the habits to keep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000" b="1" i="0">
                <a:solidFill>
                  <a:srgbClr val="E69F00"/>
                </a:solidFill>
                <a:latin typeface="Calibri"/>
              </a:rPr>
              <a:t>1.  </a:t>
            </a:r>
            <a:r>
              <a:rPr sz="2000" b="0" i="0">
                <a:solidFill>
                  <a:srgbClr val="222222"/>
                </a:solidFill>
                <a:latin typeface="Calibri"/>
              </a:rPr>
              <a:t>Institutions first: know the forum's test before you pick a method.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000" b="1" i="0">
                <a:solidFill>
                  <a:srgbClr val="E69F00"/>
                </a:solidFill>
                <a:latin typeface="Calibri"/>
              </a:rPr>
              <a:t>2.  </a:t>
            </a:r>
            <a:r>
              <a:rPr sz="2000" b="0" i="0">
                <a:solidFill>
                  <a:srgbClr val="222222"/>
                </a:solidFill>
                <a:latin typeface="Calibri"/>
              </a:rPr>
              <a:t>The evidence triad: never rest a conclusion on one leg — empirics, documents, and judgment together.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000" b="1" i="0">
                <a:solidFill>
                  <a:srgbClr val="E69F00"/>
                </a:solidFill>
                <a:latin typeface="Calibri"/>
              </a:rPr>
              <a:t>3.  </a:t>
            </a:r>
            <a:r>
              <a:rPr sz="2000" b="0" i="0">
                <a:solidFill>
                  <a:srgbClr val="222222"/>
                </a:solidFill>
                <a:latin typeface="Calibri"/>
              </a:rPr>
              <a:t>Screen cheap, quantify dear: GUPPI before simulation, a variance screen before a full damages model.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000" b="1" i="0">
                <a:solidFill>
                  <a:srgbClr val="E69F00"/>
                </a:solidFill>
                <a:latin typeface="Calibri"/>
              </a:rPr>
              <a:t>4.  </a:t>
            </a:r>
            <a:r>
              <a:rPr sz="2000" b="0" i="0">
                <a:solidFill>
                  <a:srgbClr val="222222"/>
                </a:solidFill>
                <a:latin typeface="Calibri"/>
              </a:rPr>
              <a:t>Cite outcomes, not headlines: carry the SA and EU appellate history (Sasol, Media24, Intel, Qualcomm).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000" b="1" i="0">
                <a:solidFill>
                  <a:srgbClr val="E69F00"/>
                </a:solidFill>
                <a:latin typeface="Calibri"/>
              </a:rPr>
              <a:t>5.  </a:t>
            </a:r>
            <a:r>
              <a:rPr sz="2000" b="0" i="0">
                <a:solidFill>
                  <a:srgbClr val="222222"/>
                </a:solidFill>
                <a:latin typeface="Calibri"/>
              </a:rPr>
              <a:t>In South Africa, public interest can be the whole case — and a remedy is only as good as the body that can supervise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Day 3 · Mergers, remedies, IP &amp; litigation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CC7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Capstone deliverable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09728" cy="3657600"/>
          </a:xfrm>
          <a:prstGeom prst="rect">
            <a:avLst/>
          </a:prstGeom>
          <a:solidFill>
            <a:srgbClr val="CC7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1069848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900" b="0" i="0">
                <a:solidFill>
                  <a:srgbClr val="222222"/>
                </a:solidFill>
                <a:latin typeface="Calibri"/>
              </a:rPr>
              <a:t>Write a 2–3 page recommendation memo on the A/B hospital merger.</a:t>
            </a:r>
          </a:p>
          <a:p>
            <a:pPr algn="l" lvl="1">
              <a:lnSpc>
                <a:spcPct val="110000"/>
              </a:lnSpc>
              <a:spcAft>
                <a:spcPts val="10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Required computations: HHI / ΔHHI, both GUPPIs (show the arithmetic).</a:t>
            </a:r>
          </a:p>
          <a:p>
            <a:pPr algn="l" lvl="1">
              <a:lnSpc>
                <a:spcPct val="110000"/>
              </a:lnSpc>
              <a:spcAft>
                <a:spcPts val="10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Required reasoning: define the market, classify the unilateral-effects concern, and address one efficiency or entry rebuttal.</a:t>
            </a:r>
          </a:p>
          <a:p>
            <a:pPr algn="l" lvl="1">
              <a:lnSpc>
                <a:spcPct val="110000"/>
              </a:lnSpc>
              <a:spcAft>
                <a:spcPts val="10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Required framing: choose ONE jurisdiction (US / EU / SA), state its legal test, and recommend clear / condition / prohibit — for SA, address §12A(3) public interest explicitly.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120640"/>
            <a:ext cx="11064240" cy="1005840"/>
          </a:xfrm>
          <a:prstGeom prst="rect">
            <a:avLst/>
          </a:prstGeom>
          <a:solidFill>
            <a:srgbClr val="CC7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212080"/>
            <a:ext cx="106984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3000"/>
              </a:lnSpc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Deliverable:  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A tribunal-ready memo: numbers correct, tied to the legal standard, uncertainty acknowledged. Model answer in the key.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555555"/>
                </a:solidFill>
                <a:latin typeface="Calibri"/>
              </a:rPr>
              <a:t>Day 3 · Mergers, remedies, IP &amp; litigation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