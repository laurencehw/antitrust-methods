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Day 3 — Mergers, Remedies &amp; Litigation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CCCCCC"/>
                </a:solidFill>
                <a:latin typeface="Calibri"/>
              </a:rPr>
              <a:t>Predicting effects, fixing harm, IP, and proving it in a tribunal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E69F00"/>
                </a:solidFill>
                <a:latin typeface="Calibri"/>
              </a:rPr>
              <a:t>Antitrust Methods: Research and Practice  ·  Practitioner short 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3.1 — Merger analysis and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Mergers are prospective: we predict effects that have not happened yet.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three theories of merger harm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Unilateral effects.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merged firm raises price on its own because sales lost to a price rise are recaptured by the partner (diversion). No coordination needed.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Coordinated effects.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merger makes tacit collusion among the remaining firms easier (fewer players, more symmetry, more transparency).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Vertical / conglomerate effects.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Input foreclosure, customer foreclosure, or leverage across products.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Plus the SA fourth question that can override all three: the public-interest test (§12A(3)).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Unilateral effects: UPP and GUPPI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Screen the price pressure from diversion to the merging partner. For product A merging with B: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UPP_A = D_AB × (P_B − C_B) − E_A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GUPPI_A = D_AB × M_B × (P_B / P_A)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D_AB = diversion from A to B; (P_B − C_B) = the PARTNER's dollar margin; E_A = an efficiency credit. Use the partner's margin, not A's own.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GUPPI expresses the same pressure as a percentage of A's price; M_B is the partner's percentage margin and (P_B/P_A) rescales.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Rule of thumb: GUPPI above ~5% warrants a closer look. First-order price rise ≈ pass-through × UPP (≈ UPP/2).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a logit merger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helper run_logit_sim(). Turns shares + margins + diversion into predicted price rises.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products &lt;- data.frame(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product=c("A","B","C"), firm=c("A","B","C"),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price=c(100,95,90), share=c(.4,.35,.25), mc=c(60,58,55))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run_logit_sim(products, merging_firms=c("A","B"))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#&gt; pre/post price, % change, ownership matrix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Simulation needs a demand model and margins; GUPPI needs only diversion + margin. Screen with GUPPI, quantify with simulation.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Efficiencies and entry — the rebuttal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Efficiencies can offset price pressure, but they must be merger-specific, verifiable, and passed through to consumers — the burden is on the merging parties.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Marginal-cost savings discipline price; fixed-cost savings usually do not (they don't change the pricing incentive).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Entry rebuts harm only if it is timely, likely, and sufficient.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 SA, efficiencies and entry sit alongside — and can be outweighed by — the public-interest assessment.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Walmart / Massmart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Cleared on competition grounds, fought on public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Walmart's acquisition of Massmart (2011, case 73/LM/Nov10) raised few horizontal competition concerns.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battle was public interest: effects on local suppliers and on jobs. Approved with conditions — a supplier-development fund, honouring existing labour agreements, and limits on merger-specific retrenchments (with some reinstatements).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conditions were litigated up to the CAC, which refined how public-interest conditions are framed and supervised.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canonical SA lesson: a merger can pass the competition test and still be reshaped — or saved — by public-interest conditions.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Burger King (Grand Parade / ECP)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Prohibited PURELY on a public-interest (ownership) 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 foreign private-equity buyer sought to acquire the SA Burger King franchise from Grand Parade.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Commission prohibited it in 2021 because it cut shareholding by historically disadvantaged persons from a high level toward zero — the first SA merger blocked solely on the spread-of-ownership limb of public interest.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It was later approved once the parties offered an employee/HDP ownership and worker commitment.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Public interest is not a tie-breaker bolted onto competition analysis — in SA it can be the whole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3.2 — Remedies and regulation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Finding harm is half the job. A remedy must be effective AND administrable.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Structural vs. behavioural remedies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5029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Structural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Divestiture of a business / assets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Clean break; little ongoing monitoring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Preferred where feasible (US/EU default)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Risk: divestiture package too weak to compete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5029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Behavioural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Conduct rules: access, pricing, firewalls, non-discrimination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Needs ongoing supervision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Common in SA (public-interest conditions; Tribunal-supervised)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Risk: gaming, monitoring burden, expiry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Access pricing: ECPR and the revenue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When the remedy is access to a bottleneck (telecoms, rail, ports), you must set a price: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ECPR access price = direct cost + opportunity cost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Revenue requirement = opex + depreciation + (return × rate base)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ECPR (efficient component pricing rule) lets an efficient entrant in while compensating the incumbent — the benchmark in margin-squeeze remedies.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Rate regulation builds the allowed revenue from costs plus a fair return on capital; the contested number is the allowed return.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Benchmarking / yardstick: compare the regulated firm to comparable firms or regions to discipline its cost claims.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Evanston Northwestern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The canonical BEHAVIOURAL hospital-merger remedy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 consummated hospital merger found to have raised prices.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Rather than unwind it (structural), the FTC imposed a behavioural remedy: separate, independent negotiating teams for the two hospitals when bargaining with insurers.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Shows the trade-off: an effective behavioural fix where divestiture of an integrated hospital was impractical — at the cost of ongoing supervision.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When structural relief is impractical, a well-designed conduct remedy can restore the lost competition — if someone watches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3.3 — Innovation, IP, and antitrust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Where the right to exclude (a patent) meets the duty not to exclude (competition law).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Standard-essential patents: hold-up and royalty stacking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Once a standard is set, an SEP holder can hold up implementers; FRAND commitments are the check.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Cumulative royalty = Σ (royalty rate_i)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Hold-up: threaten an injunction post-adoption to extract supra-FRAND rates. Hold-out: implementers delay/underpay.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Royalty stacking: 10 SEP holders each asking 5% = 50% of the device price — manufacturing becomes unprofitable.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Key law: Huawei v. ZTE (EU 2015 negotiation framework); Unwired Planet (UK 2017, courts will set a global FRAND rate).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Pay-for-delay and killer acquisitions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Reverse-payment ('pay-for-delay') settlements.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A brand pays a generic to stay out. FTC v. Actavis (US 2013): no 'scope of the patent' shield — rule of reason, and a large unexplained payment is itself evidence of anticompetitive intent.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Killer acquisitions.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An incumbent buys a nascent rival to shut its pipeline, not for synergies (Cunningham et al. 2021 estimate ~5–7% of pharma deals). Test: compare project discontinuation rates, acquired vs. independent.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Watch the appellate record: FTC v. Qualcomm reversed (9th Cir. 2021); the EU Qualcomm exclusivity fine (€997m) annulled (GC 2022). Cite outcomes, not headlines.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ARV / pharmaceutical 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IP, access to medicines, and competition law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SA competition complaints over antiretroviral pricing pushed originators toward voluntary licences expanding generic supply.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Method mix: medicine price data, the patent landscape, and SAHPRA registration timelines to estimate the harm from delayed generic entry.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Sits at the intersection of §8 abuse, IP rights, and a pressing public-health interest.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In SA the IP-vs-competition question is not abstract — it has been about access to life-saving medicines.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3.4 — Litigation practice and expert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Where the evidence triad meets cross-examination.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Getting expert evidence admitted and believed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— the Daubert gate.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Four factors: testability/falsifiability, known error rate, peer review, general acceptance. Build the report to satisfy each.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Class certification.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Wal-Mart v. Dukes (commonality: a common question that drives the answer); Comcast v. Behrend (the damages model must match the theory of liability and be common to the class).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South Africa &amp; UK/Australia — concurrent expert evidence ('hot tubbing').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Experts are sworn together and answer in turn; a joint statement lists agreement and disagreement before the hearing. The SA Tribunal's flexible procedure favours this over rigid Daubert gatekeeping.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Three damages models — and how to defend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Before/after: compare the violation period to a clean benchmark window (validate the break).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Yardstick: compare the affected market to an unaffected comparator market.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Difference-in-differences: compare changes over time, treated vs. untreated — the workhorse, with clustered SEs (or randomisation inference for few clusters).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Reproducibility IS advocacy: a clean /data /scripts /reports bundle with a lockfile is both scientific best practice and your defence under cross-examination — run the sensitivity analysis BEFORE opposing counsel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Significance and treble damages — the checkable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The two numbers an expert is asked for on the stand: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t = coefficient / standard error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US exposure = 3 × (overcharge rate × commerce)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 = 2.5 / 0.5 = 5.0 → beyond the 1% critical value (~2.58) → common impact is statistically significant.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Commerce $200m at a 15% overcharge → $30m single → $90m trebled (US). In SA, follow-on civil damages without the multiplier.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Always pair the point estimate with its uncertainty — the tribunal is buying the confidence interval, not just the number.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Capstone — a hospital merger,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Hospitals A and B propose to merge. Work the evidence triad to a recommendation.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data (supplied)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2194560"/>
                <a:gridCol w="2194560"/>
                <a:gridCol w="2286000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Hospital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Discharges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Margin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30,000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$12,000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$11,000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25,000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15,000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6,000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1">
                <a:solidFill>
                  <a:srgbClr val="555555"/>
                </a:solidFill>
                <a:latin typeface="Calibri"/>
              </a:rPr>
              <a:t>Diversion: A→B = 0.32, A→C = 0.30, B→A = 0.45. Total discharges = 100,000. A and B propose to merge.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— the seven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1. Market definition — patient-flow / critical-loss reasoning for the geographic market.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2. Concentration — HHI, post-merger HHI, ΔHHI.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3. Diversion — patient-flow ratios vs. share-proportional diversion.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4. Unilateral effects — GUPPI for A and for B.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5. Bargaining — Nash-in-Nash: how the merger shifts the disagreement payoff in insurer negotiations (qualitative here).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6. Retrospective design — pre-commit a DiD with leads/lags to test the effect after the fact.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7. Recommendation — translate to the legal standard (US Clayton §7 / EU SIEC / SA §12 + §12A(3)) and recommend clear / condition / prohibit.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— the checkable answers (steps 2–4)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These three steps have exact answers; bring them to the memo.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HHI: pre 2,202 → post 3,402,  ΔHHI = 1,200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GUPPI_A = 0.32 × 0.35 × (11/12) = 10.3%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GUPPI_B = 0.45 × 0.40 × (12/11) = 19.6%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ΔHHI = 2 × 30 × 20 = 1,200; post-HHI well above 1,800 → structural presumption (under either guidelines vintage).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Both GUPPIs exceed the ~5% screen; B's is larger because A is the bigger, higher-margin recapture target.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Step 7 has no single right answer — it is graded on whether the numbers are tied correctly to the chosen legal standard.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Course close — the habits to keep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1.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Institutions first: know the forum's test before you pick a method.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2.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The evidence triad: never rest a conclusion on one leg — empirics, documents, and judgment together.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3.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Screen cheap, quantify dear: GUPPI before simulation, a variance screen before a full damages model.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4.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Cite outcomes, not headlines: carry the SA and EU appellate history (Sasol, Media24, Intel, Qualcomm).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5.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In South Africa, public interest can be the whole case — and a remedy is only as good as the body that can supervise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deliverable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" cy="365760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698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Write a 2–3 page recommendation memo on the A/B hospital merger.</a:t>
            </a:r>
          </a:p>
          <a:p>
            <a:pPr algn="l" lvl="1">
              <a:lnSpc>
                <a:spcPct val="110000"/>
              </a:lnSpc>
              <a:spcAft>
                <a:spcPts val="10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Required computations: HHI / ΔHHI, both GUPPIs (show the arithmetic).</a:t>
            </a:r>
          </a:p>
          <a:p>
            <a:pPr algn="l" lvl="1">
              <a:lnSpc>
                <a:spcPct val="110000"/>
              </a:lnSpc>
              <a:spcAft>
                <a:spcPts val="10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Required reasoning: define the market, classify the unilateral-effects concern, and address one efficiency or entry rebuttal.</a:t>
            </a:r>
          </a:p>
          <a:p>
            <a:pPr algn="l" lvl="1">
              <a:lnSpc>
                <a:spcPct val="110000"/>
              </a:lnSpc>
              <a:spcAft>
                <a:spcPts val="10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Required framing: choose ONE jurisdiction (US / EU / SA), state its legal test, and recommend clear / condition / prohibit — for SA, address §12A(3) public interest explicitly.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Deliverable: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A tribunal-ready memo: numbers correct, tied to the legal standard, uncertainty acknowledged. Model answer in the key.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