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Day 2 — Conduct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CCCCCC"/>
                </a:solidFill>
                <a:latin typeface="Calibri"/>
              </a:rPr>
              <a:t>Cartels, abuse of dominance, labour markets, and digital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E69F00"/>
                </a:solidFill>
                <a:latin typeface="Calibri"/>
              </a:rPr>
              <a:t>Antitrust Methods: Research and Practice  ·  Practitioner short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2.1 — Cartels and collusion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The clearest harm, the hardest evidence: proving an agreement.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a cartel case has to establish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An agreement (or concerted practice) among competitors to fix price, allocate markets/customers, rig bids, or restrict output — §4(1)(b) in SA, per se under Sherman §1, 'by object' under Art. 101.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Per se / by-object: no need to prove market power or effects — the agreement itself is the violation. The economics shifts from 'is there harm?' to 'screening' and 'damages'.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hard part is proof of the agreement. Leniency programmes turn insiders into witnesses; economics corroborates the documentary record.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Economist's two jobs: (1) screens that flag suspicious behaviour, (2) quantifying the overcharge for damages.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Cartel screens — what to compute before you have a confession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Variance / structural-break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Cartels stabilise prices, then prices jump when the cartel breaks. Bai–Perron and CUSUM tests date the breaks; a sharp drop in price variance during the suspected period is a flag.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Bid-rotation / market-allocation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In procurement: who wins in turn, suspiciously similar losing bids, bid spreads that are too tight. Needs bid-LEVEL data (every bid), not just who won.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Margin / parallel-pricing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Co-moving prices across rivals beyond what common costs explain.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screen is an investigative aid, never proof — it survives cross-examination only when tied to documents and testimony.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Quantifying the overcharge (before/after method)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Compare cartel-period prices to a competitive benchmark, then convert to damages: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Overcharge $ = (P_cartel − P_benchmark) × volume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Damages = pass-through × overcharge rate × commerce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Benchmark from a clean 'before'/'after' window (validate with a structural-break test) or a yardstick market.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Pass-through matters when buyers are intermediaries who passed the overcharge downstream (Day 1 trap: estimate in changes).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US: treble damages (×3). SA: follow-on civil claims after a Tribunal finding.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Standing &amp; the passing-on defence — know the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United States.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Illinois Brick: only DIRECT purchasers may claim federal damages. Hanover Shoe: a defendant may NOT reduce damages by arguing the direct purchaser passed the overcharge on. (Many states differ — Illinois Brick repealers.)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and South Africa.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passing-on defence IS available, and indirect purchasers can in principle claim — so quantifying pass-through is central, not barred.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is the first thing a litigator looks for in a damages dispute — get the jurisdiction's rule right before you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bread cartel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Leniency + documents + pricing analysis, with real victims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Premier Foods applied for leniency; implicated Tiger Brands, Pioneer and others in fixing the price of bread (2007).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Documentary and testimonial evidence established the agreement; pricing analysis quantified the overcharge on a staple food.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Pioneer paid penalties and made price commitments; the matter anchored SA follow-on damages and the public salience of cartels (Children's Resource Centre class action).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template SA cartel matter: leniency cracks it open, economics sizes the harm, and the harm lands on poor households.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construction 'fast-track'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Bid rigging across an industry, resolved by settlement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Commission's fast-track process (settled 2013) covered bid rigging on major projects, including 2010 World Cup stadiums.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15 firms settled for penalties totalling about R1.46 billion.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Shows the bid-rotation screen logic at industry scale and the use of a settlement mechanism to resolve many linked bids at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When rigging is industry-wide, a structured settlement can do what case-by-case prosecution cannot.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a before/after overcharge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5. Structural break dates the cartel; the gap is the overcharge.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 prices: cartel window vs clean benchmark window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p_cartel    &lt;- mean(price[period == "cartel"])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p_benchmark &lt;- mean(price[period == "after"])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overcharge_rate &lt;- (p_cartel - p_benchmark) / p_benchmark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damages_single  &lt;- overcharge_rate * commerce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damages_treble  &lt;- 3 * damages_single   # US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Validate the benchmark window with a Bai–Perron break test before you trust the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2.2 — Abuse of dominance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§8 / Art. 102 / Sherman §2. First dominance, then the abuse, then (sometimes) the justification.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structure of an abuse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1 — Dominance. SA: the §7 thresholds (Day 1). EU: ~40%+ with barriers, AKZO presumption at 50%. US §2: monopoly power, ~70%+.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2 — Abusive conduct. Exclusionary (foreclosing rivals) or exploitative (excessive pricing — live in SA/EU, largely not in the US).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3 — Effects &amp; justification. Anticompetitive effect vs. objective justification / efficiency; in SA, §8 distinguishes per se-type and rule-of-reason abuses.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economist supplies the foreclosure measure, the cost benchmark, or the price-vs-competitive-level comparison.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Predatory pricing: the as-efficient-competitor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Pricing below cost to exclude, expecting to recoup later. Two legs: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Leg 1: Price &lt; cost benchmark (AVC / AAC / LRAIC)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Leg 2 (US): recoupment must be plausible (Brooke Group)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EU AKZO presumptions: below AVC presumed predatory; between AVC and ATC predatory if part of an exclusion plan.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 Brooke Group adds a recoupment screen — no recoupment, no claim. SA looks to cost benchmarks without a strict recoupment gate.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AEC ('as-efficient competitor') test: would a rival as efficient as the dominant firm survive these prices?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Margin squeeze (vertically integrated dominant firm)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firm dominant in an input squeezes downstream rivals who must buy that input from it: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Squeeze if:  P_retail − P_wholesale &lt; downstream cost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i.e. the firm's own retail arm couldn't profit at its own wholesale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This is the AEC test applied to a two-level structure.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Classic in telecoms (access to the local loop). SA: the Telkom matters on wholesale broadband access.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ECPR (efficient component pricing rule) is the benchmark for what the access price should be — we return to it on Day 3 (remedies).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Exclusion: dealing, tying, and refusal to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Exclusive dealing / loyalty rebates.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Foreclose rivals' access to customers or distribution; assessed on the share of the market foreclosed and the AEC test for rebates.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Tying / bundling.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Leverage power in one product to a second.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Refusal to deal / essential facilities.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Narrow in the US after Trinko; recognised in the EU (Bronner / IMS Health conditions: indispensability, elimination of competition, no objective justification); SA uses §8 refusal-to-supply / essential-facility provisions more readily than US law.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Sasol — excessive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Tribunal found excessive pricing; the CAC SET IT ASIDE (2015)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Sasol Chemical Industries was found by the Tribunal to have charged excessive prices for polymers (propylene/polypropylene) to local converters.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On appeal the Competition Appeal Court SET ASIDE the finding (2015), faulting the economic value / cost benchmark used.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Excessive pricing (§8(1)(a)) requires a price that bears no reasonable relation to economic value — notoriously hard to prove.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Excessive-pricing cases turn on the value benchmark, and SA appellate courts have set findings aside on exactly that point. Teach it as good law on the TEST, not as a standing liability.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Media24 — exclusionary (predatory)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Tribunal finding (2015) later overturned by the CAC (2019)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Media24's Forum community newspaper was alleged to have priced to drive out the rival Gold–Net News in Welkom, then closed Forum.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Tribunal found abuse in 2015 on a recoupment-flavoured theory; on appeal the CAC overturned the finding in 2019.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litigation refined the SA cost benchmark for predation (average avoidable cost vs. average total cost).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second SA appellate reversal — when teaching SA abuse cases, carry the appellate history, because the audience will know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Comparative note: the AEC framework is contested abroad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Intel: the original 2009 rebates decision and its AEC analysis were annulled (General Court 2022, affirmed CJEU Oct 2024). Do NOT cite 'the AEC framework established in Intel' as settled — it was unwound.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Microsoft (2001): the D.C. Circuit VACATED the tying ruling; the liability that stood was §2 monopoly maintenance. Cite it for maintenance, not tying.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Lesson for the expert: exclusion tests (AEC, foreclosure shares) are live and jurisdiction-specific. Anchor your method in the forum's current law, not a famous old headline.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2.3 — Antitrust and labour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Buyer power over workers: monopsony is the mirror image of monopoly.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Monopsony and the wage markdown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dominant employer faces an upward-sloping labour supply curve, so it holds wages below the value workers add: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wage / MRPL = η / (1 + η)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η = firm-level labour-supply elasticity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MRPL = marginal revenue product of labour (what the worker adds).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η = 2 → wage = 2/3 of MRPL → a 33% markdown. As η → ∞ (competitive), wage → MRPL.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 firm can be tiny in its product market yet dominant as a BUYER of local labour — e.g. the only large hospital in a rural commuting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Labour-market concentration (labour HHI)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Define the market as occupation × commuting zone, then apply the same HHI: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Labour HHI = Σ (employment share_i)²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2023 Merger &amp; labour guidelines use the 1,800 concentration threshold (the 2010 figure was 2,500).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Many US local labour markets exceed 3,000 — highly concentrated (Azar–Marinescu–Steinbaum).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Same arithmetic as product-market HHI; the work is defining the geography (commute) and the occupation.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conduct: no-poach, wage-fixing, non-competes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No-poach agreements between employers (incl. across franchisees) — the US DOJ treats naked no-poach and wage-fixing as per se criminal, like price-fixing.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Non-competes bind workers post-employment; ~18% of US workers; they reduce mobility and shave wages. The FTC's 2024 ban was set aside in court (Ryan v. FTC, 2024) and the FTC dropped the appeal (2025) — back to case-by-case enforcement.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enforcement reality check: Jindal (physical therapists) — jury ACQUITTED on the Sherman counts; DaVita (no-poach) — defendants ACQUITTED (2022). Hard to win criminally, but the cases reshaped compliance.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hook: the Healthcare Market Inquiry documented a small number of hospital groups (&gt;80% of beds) — a structural monopsony over nurses and clinical labour in many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labour HHI and the markdown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10. Same helper as product markets.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shares &lt;- c(50, 30, 20)             # hiring shares, 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hhi &lt;- sum(shares^2)                # 3800  -&gt; concentrated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eta &lt;- 2                            # labour-supply elasticity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markdown &lt;- 1 - eta/(1+eta)         # 0.333 -&gt; 33% below MRPL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HHI 3,800 (&gt; 1,800) and a 33% markdown: concentration and the wage gap tell the same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2.4 — Digital markets and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Multi-sided, data-rich, fast-moving. New measurement problems, familiar theories of harm.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makes platforms different (and what doesn't)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Multi-sided: value depends on the other side (buyers/sellers, users/advertisers, riders/drivers); network effects and switching costs feed market power.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Zero price on one side breaks the SSNIP — use SSNDQ (quality decrease: ad load, data extraction) and watch the OTHER side's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But the theories of harm are old friends: self-preferencing (a form of leverage/discrimination), exclusion via defaults, tying, refusal to interoperate.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Defaults move behaviour even when switching is nominally free — the central empirical fact of the search cases.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Measuring self-preferencing and default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Two workhorse measurements: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Ranking harm:  Δclicks = (CTR_top − CTR_demoted) × queries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Default effect: event-study / DiD around a choice-screen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Top organic result captures ~25–35% of clicks; demotion to position ~4 is a large traffic loss even at equal quality.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Self-preferencing test: regress rank (or visibility) on quality AND an own-product dummy — the dummy is the favouritism.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Defaults: a DiD around the introduction of a choice screen isolates how much share moves when the default is removed.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enforcement record is now 2024–2026 — keep it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v. Google (search): liability Aug 2024; remedies Sept 2025 — default-exclusivity bans and data-sharing, NO Chrome divestiture.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v. Google (ad tech): §2 liability 2025 (publisher ad server + exchange).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EU: Google Shopping affirmed (CJEU 2024); DMA non-compliance fines — Apple €500M, Meta €200M (Apr 2025); ex ante gatekeeper rules vs. the US case-by-case model.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Epic v. Apple: 2025 contempt ruling barred Apple's 27% off-app surcharge and anti-steering 'scare screens'.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Online Intermediation Platforms Market Inquiry (OIPMI)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Self-preferencing and platform dependence, SA-style remedies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Final report (2023) covered e-commerce (Takealot marketplace ranking vs. its own retail arm), food delivery (commissions ~25–30%), online travel, and Google's &gt;90% search share.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Remedies pointed at fair-ranking reporting, anti-steering relief for restaurants, and data/visibility transparency.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market-inquiry remedy package, not a litigated abuse finding — the SA tool of choice for fast-moving digital markets.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SA reaches platform harms through market inquiries with forward-looking remedies, in parallel with the EU's ex ante DMA — both contrast with US case-by-case litigation.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2 — what you should now be able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1.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Lay out a cartel case: per se status, a screen to run, and a before/after overcharge — and state whether passing-on is available in the forum.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2.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Structure an abuse case (dominance → conduct → justification) and apply the AEC test to predation and margin squeeze.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3.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Carry the SA appellate history: Sasol set aside (2015), Media24 overturned (2019), and treat Intel's AEC analysis as unwound.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4.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Compute a labour HHI and a wage markdown, and explain how a firm can be small in product but dominant in labour.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5.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Apply old theories of harm to platforms with SSNDQ and ranking/default measurement, and place SA market inquiries against the EU DMA and US litigation.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2 — exercises (worked answers in the key)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365760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698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1.  Overcharge &amp; damages: commerce R200m, overcharge rate 15%. Single damages? US treble exposure? Why might the SA number differ?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2.  Wage markdown: three employers with hiring shares 50/30/20. Compute the labour HHI. With η = 2, what is the markdown vs. MRPL?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3.  Ranking harm: CTR 35% at position 1, 8% at position 4; a rival is demoted 1→4 on 1,000,000 queries. Lost clicks?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4.  Abuse strategy: a vertically integrated SA telco is accused of margin squeeze. State the test, the two prices you need, and one objective justification the firm might raise.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Deliverable: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Exercises 1–3 are checkable arithmetic; 4 is a one-paragraph strategy note. Key provided.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