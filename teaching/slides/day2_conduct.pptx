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Day 2 — Conduct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CCCCCC"/>
                </a:solidFill>
                <a:latin typeface="Calibri"/>
              </a:rPr>
              <a:t>Cartels, abuse of dominance, labour markets, and digital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69F00"/>
                </a:solidFill>
                <a:latin typeface="Calibri"/>
              </a:rPr>
              <a:t>Antitrust Methods: Research and Practice  ·  Practitioner short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2.1 — Cartels and collusion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The clearest harm, the hardest evidence: proving an agreement.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a cartel case has to establish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An agreement (or concerted practice) among competitors to fix price, allocate markets/customers, rig bids, or restrict output — §4(1)(b) in SA, per se under Sherman §1, 'by object' under Art. 101.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 'concerted practice' reaches tacit coordination short of a formal contract: a meeting of minds inferred from contacts plus parallel conduct that has no other plausible explanation.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Per se / by-object: no need to prove market power or effects — the agreement itself is the violation. The economics shifts from 'is there harm?' to screening and damages.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hard part is proving the agreement. Leniency turns insiders into witnesses; documents supply the meeting of minds; economics corroborates.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Economist's two jobs: (1) screens that flag conduct, (2) quantifying the overcharge for damages.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spectrum: explicit -&gt; tacit -&gt; independent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Explicit cartels (agreement on price/allocation): per se / by object. Illegal regardless of effect.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Tacit coordination (conscious parallelism, no agreement): generally NOT unlawful by itself — oligopolists may rationally match prices. Needs 'plus factors' (evidence of communication, actions against self-interest) to become an inferred agreement.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Independent action (unilateral pricing on the merits): lawful.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legal lines map to analytical standards: per se -&gt; no defence on effects; rule of reason -&gt; balance harm vs justification; the gap between tacit and explicit is where most litigation lives.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Practical upshot: parallel prices alone never win a cartel case — you need the agreement; the screen only flags where to look.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Cartel conduct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Price fixing — agreeing prices, margins, surcharges, discounts, or a price formula.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Market / customer division — carving up geographies, customers, or product lines so each firm faces no rival in its slice.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Output / capacity restriction — agreeing to cut or cap production to lift price.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Bid rigging — cover bids, bid suppression, bid rotation, subcontract payoffs in procurement.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All are §4(1)(b) per se in SA; the detection method differs by type (price series vs bid-level data vs allocation patterns).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keeps a cartel 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Detection of cheating — members must observe each other's prices/sales (transparent markets collude more easily).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Punishment mechanism — a credible threat (price war) to discipline a defector; without it, the agreement unravels.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Entry barriers — outside entry undercuts the cartel price; high barriers protect the overcharge.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Demand stability — volatile or unobservable demand makes a price cut hard to tell from cheating.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Few firms / symmetry — coordination is easier with fewer, similar players; fringe firms and mavericks destabilise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Read the structure for these factors: they tell you both how likely collusion is and where the screen should bite.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Cartel screens — what to compute before you have a confession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Variance / structural-break screens.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Cartels stabilise prices, then prices jump when the cartel breaks. A drop in price variance during the suspected window, then a break, is a flag.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Date the breaks with Bai–Perron (multiple unknown breakpoints) or CUSUM; this is the Chow test for a structural break generalised to unknown dates (Day 1's regression machinery).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Bid-rotation / market-allocation screens.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Who wins in turn, suspiciously similar losing bids, spreads too tight. Needs bid-LEVEL data (every bid), not just who won.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Margin / parallel-pricing screens.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Prices co-moving across rivals beyond what common costs explain.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 screen is an investigative aid, never proof — it survives cross-examination only when tied to documents and testimony.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Detection &amp; enforcement: leniency, sanctions, penalties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optimal fine must wipe out the expected gain, grossed up for the chance of escaping detection: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Optimal fine  &gt;  expected gain / probability of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Leniency / immunity: first-in gets immunity; a marker system holds your place. &gt;90% of major cartel cases originate in a leniency application.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design exploits the prisoner's dilemma: once one firm can defect to the authority, every firm races to be first.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Criminal sanctions: SA criminalised cartel conduct for directors; the US jails executives — the threat is what makes leniency attractive.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Private damages: US allows treble damages (powers private enforcement); SA relies on follow-on civil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Quantifying the overcharge (before/after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Compare cartel-period prices to a competitive benchmark, then convert to damages: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Overcharge $ = (P_cartel − P_benchmark) × volume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Damages = pass-through × overcharge rate ×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Benchmark from a clean before/after window (validate with a structural-break test), a yardstick market, or cost-plus.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Estimate in changes, control for cost drivers, and stress-test the window — the defence will attack the benchmark first.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Pass-through matters when buyers are intermediaries who passed the overcharge downstream.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US: treble damages (×3). SA: follow-on civil claims after a Tribunal finding.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Damages estimation — three benchmark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Before/after.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Same market, compare the cartel window to a clean period before/after. Strength: like-for-like. Risk: the 'clean' period must really be uncontaminated (validate with a break test).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Yardstick.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A comparable unaffected market (another region/product) stands in for the but-for price. Strength: contemporaneous. Risk: comparability — control for the differences.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Cost-plus.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Build the but-for price from cost + a competitive return. Strength: no clean benchmark needed. Risk: cost data and the 'reasonable return' are contestable.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Pick by data availability and defensibility; triangulate across methods when you can — agreement across approaches is persuasive.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Standing &amp; the passing-on defence — know the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United States.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Illinois Brick: only DIRECT purchasers may claim federal damages. Hanover Shoe: a defendant may NOT reduce damages by arguing the direct purchaser passed the overcharge on. (Many states differ — Illinois Brick repealers.)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Together the two rules let the direct purchaser keep the full overcharge and bar indirect purchasers federally — a deliberate enforcement-incentive design.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EU and South Africa.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The passing-on defence IS available, and indirect purchasers can claim — so quantifying pass-through is central, not barred.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First thing a litigator checks — get the forum's rule right before you model, because it determines who your plaintiff is and what you must estimate.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bread cartel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Leniency + documents + pricing analysis, with real victims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Premier Foods applied for leniency; implicated Tiger Brands and Pioneer in fixing the price and timing of bread-price increases (2007).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Documentary and testimonial evidence established the agreement; pricing analysis sized the overcharge on a staple food.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Pioneer paid penalties and made price commitments; the matter anchored SA follow-on damages and the Children's Resource Centre class action (indirect purchasers — possible in SA).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The template SA cartel matter: leniency cracks it open, economics sizes the harm, and the harm lands on poor households.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construction 'fast-track' settlement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Bid rigging across an industry, resolved by settlement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Commission's fast-track settlement (2013) covered bid rigging on major projects, including 2010 World Cup stadiums.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15 firms settled for penalties totalling about R1.46 billion.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Shows the bid-rotation screen logic at industry scale, resolved by a structured settlement that closed many linked bids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When rigging is industry-wide, a structured settlement can do what case-by-case prosecution cannot — but it depends on bid-level evidence the screen pointed 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Code as demo — a before/after overcharge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  <a:latin typeface="Calibri"/>
              </a:rPr>
              <a:t>Book Ch. 5. Structural break dates the cartel; the gap is the overcharge.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98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source("program/R/helpers.R")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# prices: cartel window vs clean benchmark window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p_cartel    &lt;- mean(price[period == "cartel"])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p_benchmark &lt;- mean(price[period == "after"])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overcharge_rate &lt;- (p_cartel - p_benchmark) / p_benchmark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damages_single  &lt;- overcharge_rate * commerce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damages_treble  &lt;- 3 * damages_single   # US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Point at: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Validate the benchmark window with a Bai–Perron break test before you trust the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2.2 — The econometric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The methods spine cases rely on: OLS, its failures, and the designs that survive cross-examination.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Why this module sits in the middle of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Almost every conduct case rests on a regression: the overcharge, the foreclosure effect, the wage markdown, the ranking harm.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 tribunal weighs your number by the credibility of the design, not the sophistication of the model.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Today: the workhorse — OLS, its assumptions, the failures that matter, and two designs that survive cross-examination (DiD and the event study).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through-line: good design beats clever post-hoc fixes. Get the comparison right and the statistics are easy.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Regression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linear model and what each piece does: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Y = α + βX + γZ + 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Y = outcome (price, wage, click-through); X = the variable of interest; Z = controls; ε = everything else.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β = the marginal effect of X on Y, holding Z fixed — the number the case usually turns on.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Controls (Z) strip out confounders so β isolates X; the art is choosing the right ones without controlling away the effect.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error term ε holds omitted factors, measurement error, and pure noise — and it is where the trouble lives.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OLS assumptions (what makes β trustworthy)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Linearity — the model is linear in parameters (transform variables if needed: logs for elasticities).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Exogeneity: E[ε | X] = 0 — X is uncorrelated with the error. This is the assumption that decides cases.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Homoskedasticity — constant error variance (affects SEs, not the coefficient).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No autocorrelation — errors uncorrelated across observations (matters in panels / time series).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Violate exogeneity and β is biased; violate the variance assumptions and β is fine but the SEs (and your significance claims) are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Violations 1 — endogeneity (the central worry)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Reverse causality / simultaneity — Y also causes X (price and quantity are set together; concentration may be the result of competition, not its cause).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Omitted-variable bias — a confounder in ε that drives both X and Y (demand shocks that lift both price and quantity).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Errors-in-variables — X is mismeasured, biasing β toward zero (attenuation).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All three break E[ε|X]=0 -&gt; β is biased and inconsistent. No amount of data fixes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cure is design (a credible comparison/experiment or instrument), not a bigger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Violations 2 — heteroskedasticity &amp; autocorrelation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Heteroskedasticity — error variance changes with X (variance of firm prices grows with firm size). β stays unbiased; the SEs are wrong.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Autocorrelation — errors correlated over time or within groups (the same firm/region across years).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Fix the inference, not the estimate: robust (heteroskedasticity-consistent) SEs; clustered SEs when observations group (cluster on firm/market).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These are inference repairs. They do NOT rescue an endogenous β — a precise estimate of a biased number is still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When design fails — instruments, and their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When you cannot avoid endogeneity by design, an instrumental variable can rescue β: a variable Z that shifts X but is otherwise unrelated to Y (affects Y only through X).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Example: a cost shifter (exogenous input price) instruments for price when estimating demand — it moves price but not the demand curve.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Two requirements: relevance (Z strongly predicts X — beware weak instruments) and exclusion (Z affects Y ONLY through X — untestable, must be argued).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IV is second-best: it trades the endogeneity problem for an exclusion assumption the other side will attack. A clean natural experiment beats a clever instrument.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regression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 = coef / SE. Roughly |t| &gt; 2 =&gt; significant at 5%.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95% CI = β ± 1.96 · SE. Report the interval, not just the star — it shows the range of the effect.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F-test — joint significance of several coefficients (does the model explain anything? are these dummies jointly zero?).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R² / adjusted R² — share of variance explained; adjusted-R² penalises extra regressors. High R² ≠ valid causal β.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RMSE — typical prediction error in the units of Y; the scale of what the model leaves unexplained.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Difference-in-differences — the workhorse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Compare the change in a treated group to the change in an untreated control over the same period; the control differences out anything common to both: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DiD = (Y_treat,after − Y_treat,before)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        − (Y_ctrl,after − Y_ctrl,before)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Parallel-trends assumption: absent treatment, treated and control would have moved together — check pre-trends.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Cluster the SEs on the treatment unit; with few clusters, use randomisation / permutation inference.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Why tribunals like it: the comparison is transparent and falsifiable — you can see the control and test the trends.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Ashenfelter in US v. Apple (e-books)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72B2"/>
                </a:solidFill>
                <a:latin typeface="Calibri"/>
              </a:rPr>
              <a:t>A textbook DiD expert report — assume liability, find a control, quantify, stress-test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Setup: assume the alleged conspiracy; compare the 6 months either side of the agency-model switch.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Control: Random House did not join initially -&gt; a clean control publisher inside the same market.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DiD = change in conspiring-publisher e-book prices minus change in Random House prices.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Result: roughly a 16.8% price increase and about 14.5% fewer books sold for the conspiring publishers.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Robustness: re-run across windows, retailers, and datasets — a finding that moves with the window is one the defence will break.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A textbook DiD expert report: assume liability, find a credible control inside the market, quantify, then stress-test.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Event studies / the market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Isolate the effect of an event (merger announcement, agency action, stock-drop) on returns, netting out the market: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R_it = α + β · R_mt + ε     (estimate on a clean window)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AR = actual − predicted; CAR = ΣAR; t = CAR / 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Estimation window fits α, β before the event; the event window measures the abnormal return (AR) the event caused.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CAR cumulates ARs over the event window; the t-stat tests whether it differs from zero.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Uses: merger announcements (does the market expect higher prices?), agency actions, and securities stock-drop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Code as demo — the market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  <a:latin typeface="Calibri"/>
              </a:rPr>
              <a:t>Book Ch. 6. Fit on the estimation window, predict the event window, read the abnormal return.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98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source("program/R/helpers.R")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# estimation window: fit the market model on pre-event returns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m  &lt;- lm(r_firm ~ r_mkt, data = est_window)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# event window: predicted 'normal' return, then abnormal return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pred &lt;- predict(m, newdata = event_window)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ar   &lt;- event_window$r_firm - pred        # abnormal returns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car  &lt;- sum(ar)                           # cumulative AR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tval &lt;- car / (sd(residuals(m)) * sqrt(length(ar)))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Point at: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The abnormal return is what the model did NOT expect — the market's read on the event, net of the market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Kamita — airline antitrust immunity (JOLE 2010)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72B2"/>
                </a:solidFill>
                <a:latin typeface="Calibri"/>
              </a:rPr>
              <a:t>An exogenous legal change as a natural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Natural experiment: the DOT granted Hawaii interisland carriers temporary antitrust immunity, Dec 2002 – Oct 2003, letting them coordinate openly.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Treat immunity as the treatment; compare immunised routes to interisland control routes (DiD).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Finding: prices rose under immunity and stayed elevated ~2.5 years after it ended — coordination outlived the legal shelter.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Lesson: a policy switch is a free experiment; control routes make the counterfactual credible, and persistence after removal is itself evidence of coordination.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Shows how an exogenous legal change becomes a clean identification strategy — exactly what a tribunal can follow.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2.3 — Abuse of dominance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§8 / Art. 102 / Sherman §2. First dominance, then the abuse, then (sometimes) the justification.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structure of an abuse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Step 1 — Dominance. SA §7 thresholds (Day 1): ≥45% presumed dominant; 35–45% dominant unless it disproves market power; &lt;35% only if proven. EU ~40%+ with barriers, AKZO presumption at 50%; US §2 ~70%+.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Step 2 — Abusive conduct. Exclusionary (foreclosing rivals) or exploitative (excessive pricing — live in SA/EU, largely not in the US).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Step 3 — Effects &amp; justification. Anticompetitive effect vs objective justification / efficiency; SA §8 distinguishes per se-type and rule-of-reason abuses.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economist supplies the foreclosure measure, the cost benchmark, or the price-vs-competitive-level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Proving dominance —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Market shares first: SA's §7 thresholds make the share number do legal work directly (≥45% / 35–45% / &lt;35%).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But share is a proxy — corroborate with entry barriers (sunk costs, regulation, network effects), buyer power, and the durability of the position over time.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Watch market definition: define too narrowly and everyone is dominant; too broadly and no one is. The dominance finding lives or dies on Day 1's market definition.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Dynamic check: a high share with easy entry and contestation is weaker evidence of power than a stable share behind barriers.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Predatory pricing — the cost-benchmark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Pricing below cost to exclude. The Areeda–Turner benchmarks: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Price &lt; AVC            -&gt; presumptively predatory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AVC ≤ Price &lt; ATC      -&gt; ambiguous (predatory if exclusion plan)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Price ≥ ATC            -&gt;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LRAIC (long-run average incremental cost) is the modern benchmark for multi-product firms; AAC (average avoidable cost) the short-run one.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test embodies the AEC ('as-efficient-competitor') logic: would a rival as efficient as the dominant firm survive these prices?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Practical pitfall: which cost concept, and whose accounts — the case often turns on cost allocation.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Predatory pricing — the recoupment leg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Below-cost pricing only harms competition if the predator can get the money back: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Leg 1: Price below the cost benchmark (above)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Leg 2 (US): recoupment must be plausible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US Brooke Group: no recoupment, no claim — below-cost pricing that can never be recouped just benefits consumers.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Recoupment needs post-exit market power: barriers high enough that the predator can later raise price and recover the losses.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EU / SA do not impose a strict recoupment gate — below-cost pricing by a dominant firm can be abuse on the cost test plus an exclusionary plan.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Same conduct, different test: always anchor predation in the forum's recoupment posture.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Margin squeeze (vertically integrated dominant firm)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A firm dominant in an input squeezes downstream rivals who must buy that input from it: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Squeeze if:  P_retail − P_wholesale &lt; downstream cost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i.e. the firm's own retail arm couldn't profit at its own wholesale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This is the AEC test applied to a two-level structure — no need to show below-cost retail pricing in the absolute.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Classic in telecoms (access to the local loop / wholesale broadband). SA: the Telkom matters.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ECPR (efficient component pricing rule) is the benchmark for the access price — we return to it on Day 3 (remedies).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Data you need: the wholesale price, the retail price, and the downstream cost of an efficient entrant.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Exclusion: dealing, tying, and refusal to supply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Exclusive dealing / loyalty rebates.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Foreclose rivals' access to customers/distribution; assessed on the share foreclosed plus the AEC test for the rebate's effective price.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Tying / bundling.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Leverage power in one product to a second — but tying can be efficient, so effects matter.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Refusal to deal / essential facilities.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Narrow in the US after Trinko; EU Bronner / IMS conditions: indispensability, elimination of competition, no objective justification; SA uses §8 essential-facility provisions more readily than US law.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common thread: measure foreclosure (how much of the market is closed to an efficient rival), then weigh justifications.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Excessive pricing (the exploitative abuse)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Exploitative, not exclusionary: charging a price that bears no reasonable relation to economic value — harm to customers directly, no rival need be excluded.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Live in SA (§8(1)(a)) and the EU; largely not actionable in the US (which polices structure/conduct, not price levels).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hard part is the benchmark for 'economic value': cost-plus-reasonable-return, comparable markets, or price over time — each contestable.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This is why excessive-pricing findings are fragile on appeal — the next two SA cases show exactly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Sasol — excessive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Tribunal found excessive pricing; the CAC SET IT ASIDE (2015)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Sasol Chemical Industries was found by the Tribunal to have charged excessive prices for polymers (propylene/polypropylene) to local converters.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On appeal the Competition Appeal Court SET ASIDE the finding (2015), faulting the economic-value / cost benchmark used.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Excessive pricing (§8(1)(a)) requires a price that bears no reasonable relation to economic value — notoriously hard to 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Teach it as good law on the TEST, not standing liability — SA appellate courts have set findings aside on exactly the benchmark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Media24 — exclusionary (predatory)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Tribunal finding (2015) later OVERTURNED by the CAC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Media24's Forum community newspaper was alleged to have priced to drive out the rival Gold–Net News in Welkom, then closed Forum once the rival exited.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Tribunal found abuse in 2015 on a recoupment-flavoured theory; on appeal the CAC overturned the finding in 2019.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litigation refined the SA cost benchmark for predation (average avoidable cost vs average total cost).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A second SA appellate reversal — carry the appellate history; the audience will know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Comparative note: the AEC framework is contested abroad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EU Intel: the 2009 rebates decision and its AEC analysis were annulled (General Court 2022, affirmed CJEU Oct 2024). Do NOT call the AEC framework 'settled via Intel' — it was unwound.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US Microsoft (2001): the D.C. Circuit VACATED the tying ruling; the liability that stood was §2 monopoly maintenance. Cite it for maintenance, not tying.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Lesson: exclusion tests (AEC, foreclosure shares) are live and jurisdiction-specific. Anchor your method in the forum's current law, not a famous old headline.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 v. Microsoft — the conduct (Fisher's analysis)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72B2"/>
                </a:solidFill>
                <a:latin typeface="Calibri"/>
              </a:rPr>
              <a:t>The canonical §2 monopoly-maintenance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Monopoly power: ~95% of Intel-compatible PC operating systems; sustained high margins; the 'applications barrier to entry' (developers write for Windows because users are on Windows) protects the position — MIT's Franklin Fisher for the DOJ.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browser threat: Netscape + Java threatened a cross-platform layer that would erode the applications barrier — so Microsoft moved to foreclose it.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conduct: bundling IE into Windows at zero marginal price; OEM restrictions (no removing IE / promoting rivals); exclusive ISP &amp; content deals; technical integration — 'embrace, extend, extinguish'.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The harm was to the competitive process and innovation (maintaining the OS monopoly), not a simple price rise — the template for platform-monopoly theory.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 v. Microsoft — findings, remedy, legacy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72B2"/>
                </a:solidFill>
                <a:latin typeface="Calibri"/>
              </a:rPr>
              <a:t>A won §2 case that ended in a behavioural remedy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Findings of fact (Jackson J., Nov 1999): monopoly power established; exclusionary conduct harmed consumers, degraded quality, stifled innovation.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Remedy whiplash: a 2000 order to break Microsoft in two (OS vs. applications) was reversed on appeal (D.C. Cir. 2001) — which also vacated the tying ruling but upheld §2 maintenance — and remanded.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2001 settlement: behavioural only (API disclosure, OEM freedom, uniform licensing, anti-retaliation; 10-year consent decree).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Legacy: the structural-vs-behavioural remedy debate; the line from Microsoft to Google (search/ad-tech) to Apple/Amazon app-store and self-preferencing.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Even a won §2 case can end in a behavioural remedy a court can administer — and the appellate record, not the headline, is what you cite.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2.4 — Antitrust and labour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Buyer power over workers: monopsony is the mirror image of monopoly.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Employer market power — the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Competitive — many employers; a worker who quits is instantly rehired at the same wage; firms are wage-takers.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Oligopsony — a few large employers in a local market; some wage-setting power, strategic interaction.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Monopsony — a dominant buyer of labour faces the whole upward-sloping supply curve and sets the wage.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mirror of product-market power: monopoly raises price by restricting output; monopsony lowers the wage by restricting hiring.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Geography is decisive: labour markets are local and occupation-specific, so power concentrates far more than product-market shares suggest.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Monopsony and the wage markdown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A dominant employer faces an upward-sloping labour supply curve, so it holds wages below the value workers add: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wage / MRPL = η / (1 + η)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η = firm-level labour-supply elasticity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MRPL = marginal revenue product of labour (what the worker adds).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η = 2 → wage = 2/3 of MRPL → a 33% markdown. As η → ∞ (competitive), wage → MRPL.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A firm can be tiny in its product market yet dominant as a BUYER of local labour — the only large hospital in a rural commuting zone.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markdown is the labour analogue of the Lerner index (Day 1): less elastic supply =&gt; bigger wedge.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Labour-market concentration (labour HHI)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Define the market as occupation × commuting zone, then apply the same HHI: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Labour HHI = Σ (employment share_i)²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2023 Merger Guidelines flag concentration at HHI 1,800 (the 2010 figure was 2,500).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Many US local labour markets exceed 3,000 — highly concentrated (Azar–Marinescu–Steinbaum).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Same arithmetic as product-market HHI; the work is defining the geography (commute) and the occupation correctly.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A merger can be benign in the product market but anticompetitive in the labour market — review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Conduct: no-poach, wage-fixing, non-competes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No-poach agreements between employers (incl. across franchisees) and wage-fixing — the US DOJ treats naked versions as per se criminal, like price-fixing.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Reality check: Jindal (physical therapists) — jury ACQUITTED on the Sherman counts; DaVita — defendants ACQUITTED (2022). Hard to win criminally, but the cases reshaped compliance.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Non-competes bind workers post-employment (~18% of US workers); they cut mobility and shave wages. The FTC's 2024 ban was SET ASIDE (Ryan v. FTC); the appeal was dropped (2025) -&gt; back to case-by-case enforcement.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Information sharing on pay (benchmarking surveys, algorithms) can facilitate coordination short of an explicit 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SA hook &amp; the monopsony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Healthcare Market Inquiry: a few hospital groups hold &gt;80% of private beds -&gt; a structural monopsony over nurses and clinical labour in many regions.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same concentration that raises prices to patients also depresses wages to clinical staff — one structure, two harms.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SA tools reach this through market inquiries and §8 dominance in the buying market — the buyer-power case is statutorily available.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For the expert: build the labour HHI by occupation × region, then connect concentration to the wage markdown implied by the supply elasticity.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Code as demo — labour HHI and the markdown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  <a:latin typeface="Calibri"/>
              </a:rPr>
              <a:t>Book Ch. 10. Same helper as product markets.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98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source("program/R/helpers.R")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shares   &lt;- c(50, 30, 20)        # hiring shares, 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hhi      &lt;- sum(shares^2)        # 3800  -&gt; concentrated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eta      &lt;- 2                    # labour-supply elasticity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markdown &lt;- 1 - eta/(1+eta)      # 0.333 -&gt; 33% below MRPL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Point at: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HHI 3,800 (&gt; 1,800) and a 33% markdown: concentration and the wage gap tell the same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2.5 — Digital markets and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Multi-sided, data-rich, fast-moving. New measurement problems, familiar theories of harm.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makes platforms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Multi-sided: value on one side depends on the other (buyers/sellers, users/advertisers, riders/drivers).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Network effects — direct (more users -&gt; more value to users), indirect (more users -&gt; more sellers), and data network effects (more use -&gt; better product).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Switching costs and lock-in keep users put even when a rival is better.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Together these tip markets toward winner-take-all and durable, hard-to-contest positions ('gatekeeper' power).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Implication: a high share can be both a sign of quality AND a barrier — the analysis has to separate the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...and what doesn't (familiar theories of harm)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conduct is old friends in new clothes: self-preferencing (leverage/discrimination), exclusion via defaults, tying/bundling, refusal to interoperate.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Zero price on one side breaks the SSNIP — use SSNDQ (small but significant DECREASE in quality: ad load, data extraction, degraded service) and watch the OTHER side's price.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Defaults move behaviour even when switching is nominally free — the central empirical fact of the search cases.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So the toolkit transfers: define the market (carefully, around zero prices), measure foreclosure / favouritism, weigh justifications.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Market power at a zero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 free service can still wield power — over the paying side (advertisers) and over quality to users.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SSNDQ replaces SSNIP: would a hypothetical monopolist profitably impose a small but significant decrease in quality (more ads, more data extraction, worse defaults)?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Gatekeeper power: the platform controls a bottleneck between two sides — users can't reach sellers, or sellers can't reach users, except through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Measure power by the other side's terms (commission rates, ad load) and by dependence (what share of a seller's sales runs through the platform) — not by the user-side price of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Measuring self-preferencing and default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Two workhorse measurements: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Ranking harm:  Δclicks = (CTR_top − CTR_demoted) × queries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Default effect: event-study / DiD around a choice-screen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Top organic result captures ~25–35% of clicks; demotion to position ~4 is a large traffic loss even at equal quality.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Self-preferencing test: regress rank (or visibility) on quality AND an own-product dummy — the dummy coefficient is the favouritism, net of quality.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Defaults: a DiD around the introduction/removal of a choice screen isolates how much share moves when the default changes.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These are the same regression and DiD tools from Module 2.2, pointed at clicks and shares.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enforcement record is now 2024–2026 —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US v. Google (search): liability Aug 2024; remedies Sept 2025 — default-exclusivity bans and data-sharing, NO Chrome divestiture.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US v. Google (ad tech): §2 liability (2025) — publisher ad server + ad exchange.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Epic v. Apple: 2025 contempt ruling barred Apple's 27% off-app surcharge and anti-steering 'scare screens'.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US model is case-by-case litigation — slow, fact-intensive, remedy fights that run for years after 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enforcement record — EU &amp;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EU Google Shopping: self-preferencing finding affirmed (CJEU 2024) — the European anchor for ranking-discrimination harm.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DMA (ex ante gatekeeper rules): non-compliance fines — Apple €500M, Meta €200M (Apr 2025). Rules apply before harm is proven.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SA — OIPMI final report (2023): Takealot marketplace ranking vs its own retail arm, food-delivery commissions ~25–30%, Google &gt;90% SA search share.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OIPMI remedies: fair-ranking reporting, anti-steering relief, data/visibility transparency — a forward-looking remedy package, not a litigated abuse finding.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models,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SA — market inquiries: investigative, forward-looking remedies, fast for moving markets; reaches harms without a contested abuse finding.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EU — DMA: ex ante obligations on designated gatekeepers; harm presumed from the structure, enforced by fines.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US — litigation: ex post case-by-case under Sherman §2; high proof burden, long remedy phase.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For the expert: the measurement is the same (ranking, defaults, foreclosure); what differs is what you must prove and when — frame your number to the forum.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Online Intermediation Platforms Market Inquiry (OIPMI)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Self-preferencing and platform dependence, SA-style remedies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Final report (2023): e-commerce (Takealot marketplace ranking vs. its own retail arm), food delivery (commissions ~25–30%), online travel, and Google's &gt;90% SA search share.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Remedies: fair-ranking reporting, anti-steering relief for restaurants, and data/visibility transparency.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A market-inquiry remedy package, not a litigated abuse finding — the SA tool of choice for fast-moving digital markets.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SA reaches platform harms through market inquiries with forward-looking remedies, in parallel with the EU's ex ante DMA — both contrast with US case-by-case litigation.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Day 2 — what you should now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1.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Lay out a cartel case: per se status, a screen to run, and a before/after overcharge — and state whether passing-on is available in the forum.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2.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Use the econometric backbone: read an OLS output, spot endogeneity, and run a DiD or event study a tribunal can follow.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3.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Structure an abuse case (dominance -&gt; conduct -&gt; justification) and apply the cost/AEC test to predation and margin squeeze.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4.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Carry the SA appellate history: Sasol set aside (2015), Media24 overturned (2019); treat Intel's AEC analysis as unwound and Microsoft as §2 maintenance.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5.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Compute a labour HHI and a wage markdown; apply old theories of harm to platforms with SSNDQ and ranking/default measurement, framed to the forum (SA inquiry vs EU DMA vs US litigation).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Day 2 — exercises (worked answers in the key)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" cy="365760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1.  Overcharge &amp; damages: commerce R200m, overcharge rate 15%. Single damages? US treble exposure? Why might the SA number differ?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2.  Read a DiD: treated prices 100-&gt;120, control 100-&gt;105. What is the DiD estimate, and what assumption lets you call it causal?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3.  Wage markdown: hiring shares 50/30/20. Compute the labour HHI. With η = 2, what is the markdown vs MRPL?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4.  Ranking harm: CTR 35% at position 1, 8% at position 4; a rival demoted 1-&gt;4 on 1,000,000 queries. Lost clicks?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5.  Margin-squeeze strategy: a vertically integrated SA telco is accused of margin squeeze. State the test, the two prices you need, and one objective justification the firm might raise.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Deliverable: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Exercises 1–4 are checkable arithmetic; 5 is a one-paragraph strategy note. Key provided.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2 · Conduct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