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Day 1 —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CCCCCC"/>
                </a:solidFill>
                <a:latin typeface="Calibri"/>
              </a:rPr>
              <a:t>Institutions, evidence, market definition, and market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E69F00"/>
                </a:solidFill>
                <a:latin typeface="Calibri"/>
              </a:rPr>
              <a:t>Antitrust Methods: Research and Practice  ·  Practitioner short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Module 1.1 — The competition-law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DDEEFF"/>
                </a:solidFill>
                <a:latin typeface="Calibri"/>
              </a:rPr>
              <a:t>Institutions first, methods second. We start from South Africa.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Why institutions come before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Economic analysis answers to legal standards, agency priorities, and procedural rules — and all three vary by jurisdiction.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Get the frame right and your analysis speaks to the questions that decide a matter, not the ones that are merely interesting.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Three questions to ask of any matter: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Who enforces the law here?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What must they prove (the legal elements)?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Where does the economics enter (which element does my number go to)?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South Africa: the institutions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Competition Act 89 of 1998 (as amended, incl. 2019 Amendment Act).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Competition Commission — investigates, screens mergers, refers cases.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Competition Tribunal — adjudicates (Pretoria); decides large mergers and prohibited-practice referrals.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Competition Appeal Court (CAC) — hears appeals; several headline economic findings have been set aside on appeal.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Distinctive features: a statutory public-interest test in merger review, and market inquiries as a standing tool (Grocery Retail, Healthcare, Online Intermediation Platforms).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Regional reach: conduct affecting SADC markets is squarely in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Competition Act, by conduct type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566160"/>
                <a:gridCol w="2651760"/>
                <a:gridCol w="2651760"/>
              </a:tblGrid>
              <a:tr h="7010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Conduct</a:t>
                      </a:r>
                    </a:p>
                  </a:txBody>
                  <a:tcPr marL="73152" marR="73152" marT="27432" marB="27432" anchor="ctr">
                    <a:solidFill>
                      <a:srgbClr val="0072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South Africa</a:t>
                      </a:r>
                    </a:p>
                  </a:txBody>
                  <a:tcPr marL="73152" marR="73152" marT="27432" marB="27432" anchor="ctr">
                    <a:solidFill>
                      <a:srgbClr val="0072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United States</a:t>
                      </a:r>
                    </a:p>
                  </a:txBody>
                  <a:tcPr marL="73152" marR="73152" marT="27432" marB="27432" anchor="ctr">
                    <a:solidFill>
                      <a:srgbClr val="0072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EU</a:t>
                      </a:r>
                    </a:p>
                  </a:txBody>
                  <a:tcPr marL="73152" marR="73152" marT="27432" marB="27432" anchor="ctr">
                    <a:solidFill>
                      <a:srgbClr val="0072B2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Cartels / horizontal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§4 (per se: §4(1)(b))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Sherman §1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Art. 101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Abuse of dominance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§8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Sherman §2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Art. 102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Vertical restraints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§5; §8(1)(d) if dominant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Sherman §1 (RoR)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Art. 101 + VBER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Mergers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§12, §12A (+ public interest §12A(3))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Clayton §7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EUMR 139/2004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Price discrimination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§9 (by dominant firm)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Robinson-Patman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Art. 102(c)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555555"/>
                </a:solidFill>
                <a:latin typeface="Calibri"/>
              </a:rPr>
              <a:t>Note: vertical restraints fall under §5 (and §8(1)(d) for a dominant firm), NOT the per se horizontal provision §4(1)(b).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Dominance thresholds are statutory in South Africa (§7)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Unlike the US 'monopoly power' inference or the EU's practice-based approach, SA fixes the thresholds in the statute: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≥ 45%  → presumed dominant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35–45%  → dominant UNLESS it shows it lacks market power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&lt; 35%  → dominant only if market power is proven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US: 'monopoly power', in practice inferred above ~70% share.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EU: 'dominance', in practice from ~40% with entry barriers; rebuttable presumption at 50% (AKZO).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Why it matters: in SA the share number does legal work directly — the economist's market-share estimate can decide the burden.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same conduct, three regimes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Object vs. effects: EU Art. 101 treats 'object' restrictions as presumptively restrictive (101(3) exemption still formally available); US separates per se from rule of reason; SA §4(1)(b) lists per se horizontal practices.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Public interest: SA uniquely weighs employment, SME participation, spread of ownership (incl. by historically disadvantaged persons) in merger review — a merger can be cleared on competition grounds and still conditioned, or blocked, on public interest.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Private enforcement: US allows treble damages; SA/EU frameworks are narrower (SA: follow-on civil claims after a Tribunal finding).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Practitioner habit: map the same theory of harm to each regime's statutory test early, and build a separate legal-economic narrative for each forum.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Module 1.2 — Research design &amp; the evidence triad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DDEEFF"/>
                </a:solidFill>
                <a:latin typeface="Calibri"/>
              </a:rPr>
              <a:t>From intake to remedy: where the economics enters.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evidence triad — the spine of the whole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Every matter is built from three kinds of evidence, and good work integrates all three rather than over-relying on one.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Empirical — quantitative estimation (prices, shares, diversion, damages).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Documentary — internal memos, board decks, emails ('hot docs'), discovery.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Expert judgment — translating the first two into the legal standard the tribunal must apply.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We will return to this triad in every session. By Day 3 you should instinctively ask of any claim: which leg of the triad supports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investigation workflow: intake → remedy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Intake — complaint, leniency application, or merger notification; triage 'hot docs' and quick descriptive analytics.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Scoping — inventory data systems, prioritise custodians, run early screens (margins, shares/HHI, diversion) before costly data work.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Analysis — test theories: market definition, unilateral/coordinated effects, DiD / IV / simulation, married to documents.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Decision &amp; remedy — statement of issues, then forward-looking remedy design within institutional constraints.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At each hand-off, ask the marginal-return question: does the next dollar buy more data work, or better documentary / testimonial evidence?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Mapping economics onto the legal elements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5029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25296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Economic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Relevant market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Market power / dominance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Theory of harm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Efficiencies / pro-competitive justification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Remedy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5394960" cy="5029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25296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Legal element it serves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Defines shares, the field of analysis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An element of every abuse / §2 / Art. 102 case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The causal mechanism the agency must prove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The rebuttal / §4(1) or 101(3) defence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Must be effective AND administrable by the Tribunal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Code as demo — the multi-jurisdiction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1">
                <a:solidFill>
                  <a:srgbClr val="555555"/>
                </a:solidFill>
                <a:latin typeface="Calibri"/>
              </a:rPr>
              <a:t>Book Ch. 1, figure 'antitrust-timeline'. Run live or show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31089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6984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library(ggplot2); source("program/R/helpers.R")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milestones &lt;- tribble(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~year, ~event,              ~type,     ~jurisdiction,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1998,  "Competition Act 89", "Statute", "SA",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2019,  "SA Amendment Act",   "Statute", "SA",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2023,  "US Merger Guidelines","Guidance","US", ...)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ggplot(milestones, aes(year, y, colour = jurisdiction)) + ...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theme_antitrust()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9E73"/>
                </a:solidFill>
                <a:latin typeface="Calibri"/>
              </a:rPr>
              <a:t>Point at: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SA's 1998 Act drew on EU precedent; the 2023 US Guidelines moved toward EU-style structural presumptions — convergence over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Module 1.3 — Market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DDEEFF"/>
                </a:solidFill>
                <a:latin typeface="Calibri"/>
              </a:rPr>
              <a:t>The market is not given; it is contested. It fixes the shares, the theory of harm, and the remedy.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hypothetical monopolist test (SSNIP)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Start with a candidate market. Ask: could a hypothetical monopolist over just these products profitably impose a SSNIP — a Small but Significant Non-transitory Increase in Price (typically 5–10%)?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If YES → the candidate market IS a relevant market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If NO  → widen the market and test again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The test mechanises the question 'what constrains this firm?'.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In zero-price digital markets, use SSNDQ — a Small but Significant Non-transitory Decrease in Quality (ad load, data extraction).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Geographic and product dimensions are tested the same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Critical loss analysis — and the fallacy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A SSNIP is profitable if the sales actually lost are smaller than the most you could afford to lose: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Critical loss  CL = t / (t + m)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t = SSNIP size,   m = gross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Example: t = 5%, m = 40% → CL = 5/(5+40) = 11.1%.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If ACTUAL loss &lt; CL → SSNIP profitable → market is well defined (do NOT widen).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If ACTUAL loss &gt; CL → SSNIP unprofitable → widen the candidate market.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THE FALLACY: high margins give a LOW critical loss — but high margins often go with LOW actual loss too. Citing only the low critical loss to claim a narrow market is the classic error (O'Brien–Wickelgren; Katz–Shapiro).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Two traps the tribunal will test you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 Cellophane fallacy.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At the prevailing (already-monopolised) price, other products look like substitutes — but only because the price is already supra-competitive. Define the market at the COMPETITIVE price, not the current one. Central wherever you start from an abuse/§8/Art. 102 allegation.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Brown Shoe practical indicia.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Beyond the SSNIP arithmetic, courts look at peculiar uses, distinct customers, distinct prices, specialised vendors, industry recognition. Useful when the data are thin.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Measuring concentration: HHI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Once the market is defined, measure concentration. The Herfindahl–Hirschman Index is the sum of squared shares: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HHI = Σ (share_i)²        ΔHHI = 2 × s₁ × s₂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Shares as percentages (so a monopoly = 10,000). The merger short-cut: ΔHHI from two merging firms = 2 × s₁ × s₂.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2023 US Merger Guidelines structural presumption: post-merger HHI &gt; 1,800 AND ΔHHI &gt; 100 (or combined share ≥ 30% with ΔHHI &gt; 100).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The 2010 Guidelines' 1,500/2,500 bands still appear in older case law — know which standard a cited case used.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Code as demo — HHI in two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1">
                <a:solidFill>
                  <a:srgbClr val="555555"/>
                </a:solidFill>
                <a:latin typeface="Calibri"/>
              </a:rPr>
              <a:t>Book helper calc_hhi_change(). Shares as decimals.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31089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6984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source("program/R/helpers.R")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shares &lt;- c(A=0.40, B=0.30, C=0.20, D=0.10)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calc_hhi_change(shares, merging_firms = c("C","D"))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#&gt; pre_hhi   3000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#&gt; post_hhi  3400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#&gt; delta_hhi  400   # = 2 * 20 *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9E73"/>
                </a:solidFill>
                <a:latin typeface="Calibri"/>
              </a:rPr>
              <a:t>Point at: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Pre 3,000; post 3,400; Δ 400. Both triggers met (&gt;1,800 and &gt;100) → structural presumption. This is your live warm-up.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Grocery Retail Market Inquiry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463040" cy="457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463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09E73"/>
                </a:solidFill>
                <a:latin typeface="Calibri"/>
              </a:rPr>
              <a:t>Market definition + concentration in everyday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555555"/>
                </a:solidFill>
                <a:latin typeface="Calibri"/>
              </a:rPr>
              <a:t>Facts &amp; analysis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Inquiry into national supermarket chains (Shoprite, Pick n Pay, Spar, Woolworths) and the long-term exclusive lease agreements in shopping centres.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Exclusivity clauses foreclosed entry by rivals and informal traders — a market-definition and barriers-to-entry question, not a price-fixing one.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Illustrates SSNIP/critical-loss reasoning and the public-interest lens (SME and township-trader participation) in one matter.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9E73"/>
                </a:solidFill>
                <a:latin typeface="Calibri"/>
              </a:rPr>
              <a:t>Why it matters: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Market definition is where the public-interest story and the competition story first meet in SA practice.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Module 1.4 — The IO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DDEEFF"/>
                </a:solidFill>
                <a:latin typeface="Calibri"/>
              </a:rPr>
              <a:t>Elasticities, margins, diversion, pass-through — the parameters every later method consumes.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Elasticity and the Lerner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Market power shows up in the gap between price and marginal cost. For a profit-maximising firm: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L = (P − MC) / P = − 1 / 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L is the Lerner index (the margin); ε is the firm's own-price elasticity of demand.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Inelastic demand (small |ε|) → high margin → market power. This links a measurable margin to an elasticity.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Caveat: a high margin alone is not proof of power — it can reflect fixed-cost recovery or quality. Pair it with the other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Diversion ratios — the engine of unilateral-effects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When product 1's price rises, where do its lost sales go? The diversion ratio to product 2: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D₁₂ = (sales gained by 2) / (sales lost by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If 1 and 2 are owned by merging firms, sales 'lost' to 2 are recaptured — so the merged firm has less reason to compete on price. That is the unilateral-effects mechanism (Day 3).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Estimated from switching data, win/loss data, surveys, or a demand model. It feeds UPP and GUPPI directly.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Aggregate diversion (sum to all merging products) gauges overall recapture.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Pass-through — and a trap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Pass-through = how much of a cost change reaches price. It converts an overcharge or merger cost-saving into a price effect, and it is central to cartel damages (Day 2) and efficiencies (Day 3).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Estimate in changes / log-differences with lags — NOT on price/cost index LEVELS.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Regressing one trending index on another (e.g. CPI on PPI in levels) is the spurious-regression trap: you get a tight fit that means nothing. First-difference, then estimate.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Rule of thumb under linear demand: a merger's first-order price effect ≈ pass-through × UPP (≈ UPP/2). State the assumption.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Day 1 live-demo toolbox (book helpers)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calc_hhi_change(shares, merging_firms) — HHI, post-HHI, ΔHHI.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run_logit_sim(products, merging_firms) — static logit merger simulation (we use it on Day 3).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theme_antitrust() / scale_colour_antitrust() — consistent figures.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fetch_fred() — pull a real concentration or price series (needs key).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All live in program/R/helpers.R; each concept above is roughly one function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Day 1 — what you should now be able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1.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Name the SA institutions and statutory tests, and map any conduct to §4 / §5 / §8 / §9 / §12 and to its US and EU homes.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2.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State the SA §7 dominance thresholds from memory and explain why the share estimate does legal work.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3.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Run the hypothetical-monopolist test, compute critical loss, and avoid both the Cellophane and the critical-loss fallacies.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4.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Compute HHI and ΔHHI and apply the 2023 structural presumption.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5.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Read off the four IO parameters — elasticity, margin/Lerner, diversion, pass-through — that every later method consumes.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Day 1 — exercises (worked answers in the key)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" cy="3657600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698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1.  HHI &amp; the presumption: shares 40/30/20/10. Compute HHI; the two smallest merge — post-HHI, ΔHHI; does the 2023 presumption bite?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2.  Critical loss: SSNIP t = 5%, margin m = 35%. Compute CL. If predicted actual loss is 9%, is the candidate market a relevant market?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3.  Mapping memo: for an exclusive-dealing arrangement by a 48%-share firm, state the SA / US / EU statutory home and the burden each places on you.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4.  SA public interest: give one example where §12A(3) changes a merger outcome that a pure consumer-welfare test would clear.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Deliverable: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Exercises 1–2 are checkable arithmetic; 3–4 are one-paragraph answers. Key provided.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1 · Foundations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