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Day 1 —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CCCCCC"/>
                </a:solidFill>
                <a:latin typeface="Calibri"/>
              </a:rPr>
              <a:t>Institutions, evidence, market definition, and market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E69F00"/>
                </a:solidFill>
                <a:latin typeface="Calibri"/>
              </a:rPr>
              <a:t>Antitrust Methods: Research and Practice  ·  Practitioner short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1.1 — The competition-law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Institutions first, methods second. We start from South Africa.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Why institutions come before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Economic analysis answers to legal standards, agency priorities, and procedural rules — and all three vary by jurisdiction.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Get the frame right and your analysis speaks to the questions that decide a matter, not the ones that are merely interesting.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Three questions to ask of any matter: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Who enforces the law here?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What must they prove (the legal elements)?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Where does the economics enter (which element does my number go to)?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Same number, different jobs: a 48% share is presumed dominance in SA, probably dominant in the EU, not yet monopoly power in the US.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economist who skips this step produces beautiful estimates that answer the wrong legal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South Africa: the institutions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Competition Act 89 of 1998 (as amended, incl. 2019 Amendment Act).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Competition Commission — investigates, screens mergers, refers cases, runs market inquiries.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Competition Tribunal — adjudicates (Pretoria); decides large mergers and prohibited-practice referrals.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Competition Appeal Court (CAC) — hears appeals; several headline economic findings have been set aside on appeal (Sasol, Media24).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Distinctive features: a statutory public-interest test in merger review, and market inquiries as a standing tool.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Regional reach: conduct affecting SADC markets is squarely in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Competition Act, by conduct type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2651760"/>
                <a:gridCol w="265176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Conduct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South Africa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United States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EU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Cartels / horizontal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§4 (per se: §4(1)(b))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Sherman §1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Art. 101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Abuse of dominance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Sherman §2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Art. 102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Vertical restraints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§5; §8(1)(d) if dominant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Sherman §1 (RoR)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Art. 101 + VBER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Mergers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§12, §12A (+ public interest §12A(3))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Clayton §7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EUMR 139/2004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Price discrimination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§9 (by dominant firm)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Robinson-Patman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Art. 102(c)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555555"/>
                </a:solidFill>
                <a:latin typeface="Calibri"/>
              </a:rPr>
              <a:t>Note: vertical restraints fall under §5 (and §8(1)(d) for a dominant firm), NOT the per se horizontal provision §4(1)(b).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Dominance thresholds are statutory in South Africa (§7)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Unlike the US 'monopoly power' inference or the EU's practice-based approach, SA fixes the thresholds in the statute: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≥ 45%  → presumed dominant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35–45%  → dominant UNLESS it shows it lacks market power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&lt; 35%  → dominant only if market power is proven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thresholds shift the burden of proof, not just the label.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At ≥45% the firm must disprove dominance; in the 35–45% band it must disprove market power; below 35% the complainant must prove it.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Why it matters: in SA the share number does legal work directly — the economist's market-share estimate can decide who carries the burden.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Dominance abroad: a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United States (Sherman §2)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'Monopoly power' — power to control price or exclude competition.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No statutory number; courts infer it, in practice above ~70% share.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Alcoa (90% = monopoly; 60–64% doubtful; 33% no).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Always paired with durable entry barriers.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029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EU (Art. 102)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'Dominance' — to behave independently of competitors and customers.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In practice from ~40% with entry barriers.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AKZO: a 50% share is a rebuttable presumption of dominance.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Structure plus barriers, not share alone.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Object vs. effects — the deep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Art. 101: 'object' restrictions (price-fixing, market-sharing) are presumptively restrictive — no effects proof needed, though 101(3) exemption is formally available.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US: the per se vs. rule of reason split; naked horizontal restraints are per se, most else gets full effects analysis.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§4(1)(b): a closed list of per se horizontal practices (price-fixing, market division, collusive tendering) — no efficiency defence at all.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economist's role disappears on liability for per se / object conduct and reappears only for remedy and damages. Knowing which regime you are in tells you whether your model matters.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Public interest — the SA distinctive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merger review weighs competition AND public interest as a co-equal limb (§12A(3)).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statutory limbs: employment, SME participation, spread of ownership (esp. by historically disadvantaged persons), effect on a particular industrial sector or region, and national-industry export competitiveness.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merger can be cleared on pure competition grounds and still be conditioned or blocked on public interest (Walmart/Massmart conditions; Burger King/Grand Parade prohibition).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widens the evidence the economist must marshal — beyond price and shares to employment and ownership effects.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Market inquiries — the SA power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market inquiry is a forward-looking, industry-wide study with the power to impose remedies — not a litigated abuse finding.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It suits fast-moving or structurally troubled markets where case-by-case litigation is too slow.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Three landmark SA inquiries: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Grocery Retail — exclusive leases foreclosing entry by rivals and informal traders.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Health Market Inquiry — concentrated funders and facilities; recommended a supply-side regulator.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Online Intermediation Platforms (OIPMI) — ranking, self-preferencing, commissions on digital platforms.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Why it matters: SA reaches harms via inquiry + remedy where the US would litigate — a different toolkit for the same theories.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Burden and standard of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Standard: competition matters are civil — proof on the balance of probabilities (not 'beyond reasonable doubt'), except SA criminalised cartel conduct for individuals (§73A).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Burden shifts with structure: SA §7 thresholds move the burden; per se / object conduct removes the effects burden entirely.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Prima facie then rebuttal: the agency makes out the elements; the firm raises efficiency / objective-justification defences.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the economist: know which element your number serves and who must prove it — that determines whether you are building the case or the rebuttal.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1.2 — Research design &amp; the evidence triad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From intake to remedy: where the economics enters.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evidence triad — the spine of the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Every matter is built from three kinds of evidence; good work integrates all three.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Empirical — quantitative estimation (prices, shares, diversion, damages).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Documentary — internal memos, board decks, emails ('hot docs'), discovery.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Expert judgment — translating the first two into the legal standard.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three corroborate each other: a screen flags conduct, a document explains it, the expert ties it to the statutory element.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We return to this triad in every session. Of any claim, ask: which leg supports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investigation workflow: intake → remedy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Intake — complaint, leniency application, or merger notification; triage 'hot docs' + quick analytics.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Scoping — inventory data systems, prioritise custodians, run early screens (margins, shares/HHI, diversion).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Analysis — test theories: market definition, unilateral/coordinated effects, DiD / IV / simulation, married to documents.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Decision &amp; remedy — statement of issues, then forward-looking remedy within institutional constraints.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At each hand-off: does the next dollar buy more data or better documents/testimony?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Mapping economics onto the legal elements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Economic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Relevant market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Market power / dominance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Theory of harm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Efficiencies / justification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Remedy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029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Legal element it serves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Defines shares, the field of analysis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An element of every abuse / §2 / Art. 102 case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causal mechanism the agency must prove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rebuttal / §4(1) or 101(3) defence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Must be effective AND administrable by the Tribunal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How to read an expert report (1): question &amp;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Research question. What exactly is being estimated, and how does it link to the legal element and to the prior literature? A report with no clear question is advocacy in a lab coat.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data. Where do they come from (collection process, selection)? Beware sample selection.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Variables. Distinguish the outcome (dependent) variable from the explanatory variables — and ask whether the explanatory ones are themselves caused by the outcome.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Unit of observation. Firm? store? transaction? market-week? The unit determines what variation identifies the effect and how to cluster standard errors.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How to read an expert report (2): the empirical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Ideal data vs. available data. What experiment would answer the question, and how far does the actual data fall short?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Identification. What variation is being used to separate the causal effect from confounders? Name the source.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Sources of exogenous variation. A policy change, a weather shock, a discontinuity, an instrument — something that moves the treatment but not the outcome directly.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How much identification comes from the model? The more the answer leans on functional-form and distributional assumptions rather than on data variation, the more fragile it is — and the more you probe.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How to read an expert report (3): technique &amp;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main equation. Write it down. What is the coefficient of interest, and in what units?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Exogenous vs. endogenous regressors. Which right-hand-side variables are plausibly random, which are choices?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What is in the error term? Anything correlated with the regressor and the outcome biases the estimate — name the omitted variables.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Instruments &amp; validity. Relevance (correlated with the endogenous variable) AND exclusion (affects the outcome only through it). Exclusion is an assumption, not a test.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Conclusions &amp; alternatives. State the most plausible alternative interpretation of the same result — then ask whether the report rules it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'Ideal data' thinking and the counterfactual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Every causal claim is a comparison to a counterfactual: what would the outcome have been but for the conduct/merger?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counterfactual is never observed — we estimate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gold standard for building it is random assignment: treatment and control differ only by chance, so differences in outcomes are caused by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Most competition data is observational: firms and prices are not randomly assigned, so we must engineer a credible counterfactual from the variation we do have.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whole methods course is: how do we build a defensible counterfactual when we cannot randomise?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credibility revolution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shift (1990s onward) from elaborate structural assumptions toward research designs that isolate exogenous variation.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RCTs — randomise treatment directly (rare in antitrust, common in policy).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Natural experiments — nature/policy randomises for you. Mariel boatlift (1980): a sudden labour-supply shock to Miami used to estimate immigration's wage effect.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Quasi-experiments — a discontinuity or staggered rollout approximates randomisation.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Leamer's critique: 'Let's take the con out of econometrics' — fragile results that flip with the specification. The fix is design, not post-hoc robustness patches: a good design survives reasonable specifications.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Observational data structures → 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31920"/>
                <a:gridCol w="45720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Data structure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Typical method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controls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Cross-section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Multiple regression w/ controls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Observed confounders only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Time series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Event study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Pre/post around a date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Panel (firm × time)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Fixed effects; DiD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Time-invariant unobservables + common shocks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Panel + comparison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Matching / PSM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Observable selection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Sharp threshold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RDD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Local randomisation at the cutoff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Instrument available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Endogeneity of the regressor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555555"/>
                </a:solidFill>
                <a:latin typeface="Calibri"/>
              </a:rPr>
              <a:t>Map the data structure to the method BEFORE estimating. The design dictates the assumption you must defend.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Threats to validity,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RCT — check balance: are treatment and control similar on pre-treatment covariates? Attrition can re-introduce selection.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IV — the exclusion restriction: the instrument must affect the outcome only through the endogenous variable. Untestable; argue it institutionally.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DiD — parallel trends: absent treatment, treated and control would have moved together. Inspect pre-trends; worry about differential shocks.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RDD — no bunching/manipulation at the cutoff (McCrary density test); the effect is local to the threshold, not global.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Naming the threat for your own design first is the mark of a credible report.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Structural IO vs. reduced 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Structural (BLP-style)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Estimate demand (elasticities, diversion) + a conduct model, then simulate the merger.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Predicts effects of an event that hasn't happened.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Heavy on assumptions: functional form, equilibrium, instruments for prices.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Used when no clean experiment exists (most prospective mergers).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029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Reduced form (clean design)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e.g. Hastings (2004) gasoline: a vertical change used as a natural experiment on retail prices.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Transparent, few assumptions, credible for the event observed.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Limited external validity; can't simulate counterfactual mergers.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Used when good exogenous variation exists.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Institutional details and the Scheffman best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Institutional details matter. Contracts, regulation, procurement rules, and how prices are actually set often determine the right model — and sometimes settle the question without econometrics.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Scheffman (FTC) best practice: the most persuasive evidence is frequently descriptive quantitative — prices, shares, margins, shipments, bid data — clearly presented.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Make assumptions least favourable to your own case. If the conclusion holds under conservative assumptions, it is robust; if it needs the favourable ones, the tribunal will notice.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Fancy methods do not rescue a weak descriptive picture; they amplify a strong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the multi-jurisdiction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1, figure 'antitrust-timeline'. Run live or show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library(ggplot2); 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milestones &lt;- tibble::tribble(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~year, ~event,              ~type,     ~jurisdiction,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1998,  "Competition Act 89", "Statute", "SA",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2019,  "SA Amendment Act",   "Statute", "SA",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2023,  "US Merger Guidelines","Guidance","US")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ggplot(milestones, aes(year, 0, colour = jurisdiction)) +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geom_point(size = 4) + theme_antitrust()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SA's 1998 Act drew on EU precedent; the 2023 US Guidelines moved toward EU-style structural presumptions — convergence over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1.3 — Market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The market is not given; it is contested. It fixes the shares, the theory of harm, and the remedy.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Why market definition comes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relevant market fixes the shares, the field for HHI, the dominance inference, and the set of constraints on the firm.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It is contested, not given: defendants widen it (more competitors, lower shares); agencies narrow it (fewer, higher).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Two dimensions, tested the same way: product (which products compete?) and geographic (where?).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wrong market definition can sink an otherwise sound theory of harm — get it right before you estimate effects.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hypothetical monopolist test (SSNIP)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Start with a candidate market. Could a hypothetical monopolist over just these products profitably impose a SSNIP — a Small but Significant Non-transitory Increase in Price (typically 5–10%)?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If YES → the candidate market IS a relevant market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If NO  → widen the market and test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test mechanises the question 'what constrains this firm?'.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Iterate: keep adding the next-closest substitute until a SSNIP would be profitable.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In zero-price digital markets, use SSNDQ — a Small but Significant Non-transitory Decrease in Quality (ad load, data extraction).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Critical loss — the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SSNIP is profitable if the sales actually lost are smaller than the most you could afford to lose: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Critical loss  CL = t / (t + m)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t = SSNIP size,   m = gross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Example: t = 5%, m = 40% → CL = 5/(5+40) = 11.1%.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If ACTUAL loss &lt; CL → SSNIP profitable → market is well defined (do NOT widen).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If ACTUAL loss &gt; CL → widen the candidate market.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two ingredients: an accounting margin and a demand estimate of the actual loss.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critical-loss fallacy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High margins give a LOW critical loss — which looks like it favours a narrow market.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BUT high margins typically go with LOW actual loss too (a firm with pricing power faces inelastic demand).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Citing only the low critical loss to claim a narrow market — without checking the actual loss — is the classic error (O'Brien–Wickelgren; Katz–Shapiro).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discipline: always compare actual loss to critical loss; never quote one in isolation.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Cellophane fallacy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From du Pont (cellophane): at the already-monopolised price, other products look like substitutes — but only because the price is already supra-competitive.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Define the market at the COMPETITIVE price, not the prevailing one.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Central wherever you start from an abuse / §8 / Art. 102 allegation, because the conduct under challenge has already moved the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mirror image of the SSNIP: SSNIP starts from a competitive price and pushes up; the Cellophane trap starts from a monopoly price and is fooled by the substitution it induced.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Brown Shoe practical indicia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When the SSNIP arithmetic is data-starved, courts look to qualitative indicia (Brown Shoe, 1962):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Industry or public recognition of the market as separate.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product's peculiar characteristics and uses.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Distinct customers and distinct prices.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Sensitivity to price changes (cross-elasticity).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Specialised vendors and distinct production facilities.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These corroborate (or undercut) the econometrics — the documentary leg of the triad applied to market definition.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Measuring concentration: HHI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Once the market is defined, measure concentration. The Herfindahl–Hirschman Index is the sum of squared shares: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HHI = Σ (share_i)²        ΔHHI = 2 × s₁ × s₂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Shares as percentages (so a monopoly = 10,000). The merger short-cut: ΔHHI from two merging firms = 2 × s₁ × s₂.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2023 US Merger Guidelines structural presumption: post-merger HHI &gt; 1,800 AND ΔHHI &gt; 100 (or combined share ≥ 30% with ΔHHI &gt; 100).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2010 Guidelines' 1,500/2,500 bands still appear in older case law — know which standard a cited case used.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HHI is a screen, not a verdict: it flags matters; it does not prove harm.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HHI in two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helper calc_hhi_change(). Shares as decimals.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shares &lt;- data.frame(firm=c("A","B","C","D"),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                   share=c(0.40,0.30,0.20,0.10))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calc_hhi_change(shares, merging_firms = c("C","D"))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pre_hhi   3000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post_hhi  3400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delta_hhi  400   # = 2 * 20 *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Pre 3,000; post 3,400; Δ 400. Both triggers met (&gt;1,800 and &gt;100) → structural presumption. This is your live warm-up.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Deep dive: FTC v. Staples / Office Depot (1997)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model market-definition case — the template for unilateral-effects-plus-econometrics in merger review.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office-superstore (OSS) format: one-stop shopping, 5,000–7,500 SKUs, deep discounts (30–70% off list).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industry consolidated from ~23 chains to 3: Staples, Office Depot, OfficeMax. The merger would have left two.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fight was entirely about the market: the FTC said 'office supplies sold through superstores'; the parties said 'all office-supply retailing' (Walmart, Best Buy, mail order) — which would have made the merger trivial.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Staples (1): market by retail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relevant market was defined as 'consumable office supplies sold through office superstores' — by retail format, not by product.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pen is a pen wherever sold — but the competitive constraint on an OSS comes overwhelmingly from other OSS, not from Walmart or a corner stationer.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conceptual leap: markets can be drawn around a channel of distribution when that is where the competitive interaction lives.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It reframed 'what is the product?' as 'what constrains the price the customer actually pays?'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Staples (2): four pillars of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Distinct products/services — the one-stop superstore offering is a different shopping experience from mass merchants and mail order.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Competitive recognition — internal documents labelled markets 'competitive' (another OSS present) vs. 'non-competitive' (OSS-monopoly) and priced accordingly.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Pricing constraints — non-OSS retailers (Walmart, Best Buy, warehouse clubs) did NOT discipline OSS prices.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Econometric evidence — the hypothetical-monopolist regression predicted a merged firm could raise prices ~8.49%, exceeding the 5% SSNIP threshold (18 months of data, 400+ stores, 40+ cities).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Staples (3): the price-comparison smoking gun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Where Staples faced another OSS, prices were dramatically lower than where it had a local OSS monopoly — the firm's own data, from its own scanners.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OSS-vs-OSS prices were nearly identical (Detroit basket: Staples $100, Office Depot $100.4, OfficeMax $102).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non-OSS like Best Buy ran ~18–19% higher on the same basket → it was NOT in the same market.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is the descriptive quantitative evidence Scheffman prizes: the parties' own prices, plainly arrayed, did most of the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Staples (4): holding &amp; legacy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Preliminary injunction granted; merger abandoned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Judge Hogan granted a preliminary injunction (D.D.C. 1997); the merger was abandoned.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Memorable craft: 'store visits are worth a thousand affidavits' — get out of the spreadsheet and into the aisle.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Precedent for combining unilateral-effects theory + econometric and internal-document evidence — later echoed in Oracle/PeopleSoft, Whole Foods/Wild Oats, T-Mobile/Sprint.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It legitimised the modern merger toolkit — define by the constraint that actually binds, prove it with the parties' own data, and let documents corroborate the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Tying it back to South Africa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Same SSNIP logic, plus the public-interest 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same SSNIP / critical-loss logic travels — but SA adds the public-interest lens.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In the Grocery Retail Market Inquiry, the issue was not price-fixing but long-term exclusive leases foreclosing entry by rivals and informal/township traders.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Market definition met barriers-to-entry and the spread-of-participation limb in one matter.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Market definition is where the public-interest story and the competition story first meet in SA practice.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1.4 — The IO toolkit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Elasticities, margins, diversion, pass-through — the parameters every later method consumes.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is market power?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Market power = the ability to profitably: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raise price above marginal cost, or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restrict output, or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degrade quality / innovation (the digital-market form).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It is a matter of degree, not a switch — every firm has some; the question is how much and whether it is durable.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Dominance / monopoly power is market power large and durable enough to clear the legal threshold (SA §7; EU AKZO; US §2).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Everything in this module is a way to measure that gap or its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Lerner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Market power shows up in the gap between price and marginal cost. For a profit-maximising firm: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 = (P − MC) / P = − 1 / 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 is the Lerner index (the margin); ε is the firm's own-price elasticity of demand.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Worked example: |ε| = 2 → L = 0.5 → price is double marginal cost. |ε| = 5 → L = 0.2.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Inelastic demand (small |ε|) → high margin → market power.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Caveat: a high margin alone is not proof of power — it can reflect fixed-cost recovery or quality. Pair it with other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Measuring margins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Price-cost margin (PCM): accounting proxy for the Lerner index from financial data — but accounting cost ≠ marginal cost.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Tobin's Q: market value / replacement cost of assets; Q ≫ 1 hints at rents or intangibles, but is noisy and not market-specific.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Production-function markups (De Loecker–Warzynski): μ = output elasticity / cost share of a flexible input — estimable without observing marginal cost directly.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Each measure trades availability against fidelity to the true marginal cost; triangulate, don't rely on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rise-of-markups debate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 Loecker–Eeckhout–Unger: estimated average US markups rose from ~21% over cost (1980) to ~61% (2016), concentrated in the right tail.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flashpoint: does it show rising market power, or something more benign?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Alternative explanations: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Rising fixed/intangible costs (software, R&amp;D, branding) → high markups over marginal cost but normal profits.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Quality improvements and changing product mix.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Globalisation and superstar-firm efficiency.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Measurement: cost of goods sold vs. total cost changes the answer.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Lesson: a striking aggregate trend still needs a mechanism before it becomes a finding.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Sources of market 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Scale economies — high fixed costs, declining average cost (utilities, networks).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Product differentiation — brand, location, taste; softens price competition.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Network effects — value rises with users (platforms, payment systems).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Switching costs / lock-in — data, learning, contracts.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Intellectual property — patents, copyrights, trade secrets.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Geography &amp; regulation — the only hospital in a region; licensing limits on entry.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Data and strategic conduct — accumulated data as a barrier; exclusionary tactics that create power.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Oligopoly: Cournot vs. Bertrand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Cournot (quantity)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Firms choose output; price clears the market.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Prices fall between monopoly and competitive as N rises.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Margins ∝ HHI / elasticity — links structure to conduct.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Fits homogeneous goods with capacity choices.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029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Bertrand (price)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Firms choose price; lowest price wins.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Bertrand paradox: with identical goods, two firms → price = MC.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Differentiation breaks the paradox → positive margins.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Fits branded consumer goods (most merger work).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Concentration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CR4 / CRn — combined share of the top n firms; simple, but ignores the distribution among them.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HHI — sum of squared shares; weights large firms more, so it captures both the number and the inequality of firms.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Both are structural screens: high concentration raises the question, it doesn't answer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They are inputs to (Cournot) conduct predictions, not substitutes for an effects analysis — and they depend entirely on the market definition (Module 1.3).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four parameters every later method consumes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Elasticity (ε) — how quantity responds to price; the foundation of demand and the Lerner index.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Margin / Lerner (L) — the price–cost gap; sizes the incentive to raise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Diversion ratio (D₁₂) — where lost sales go; the engine of unilateral effects (UPP/GUPPI, Day 3).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Pass-through — how much of a cost change reaches price; converts overcharges and savings into price effects.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Estimate pass-through in CHANGES, not levels — regressing one trending index on another (CPI on PPI in levels) is the spurious-regression trap.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Diversion and pass-through, defined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Two of the four parameters get their own definitions: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D₁₂ = (sales gained by 2) / (sales lost by 1)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Pass-through ρ = Δprice / Δcost   (estimate in changes)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If 1 and 2 are owned by merging firms, sales 'lost' to 2 are recaptured → less reason to compete on price (Day 3).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Diversion is estimated from switching data, win/loss records, surveys, or a demand model; it feeds UPP and GUPPI.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Rule of thumb (linear demand): a merger's first-order price effect ≈ pass-through × UPP (≈ UPP/2). Always state the assumption.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1 live-demo toolbox (book helpers)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calc_hhi_change(shares, merging_firms) — HHI, post-HHI, ΔHHI (pass a data.frame).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run_logit_sim(products, merging_firms) — static logit merger simulation (we use it on Day 3).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theme_antitrust() / scale_colour_antitrust() — consistent figures.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fetch_fred() — pull a real concentration or price series (needs key).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All live in program/R/helpers.R; each concept above is roughly one function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What you can now do — and the exercises that prove it.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1 — what you should now be able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1.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Map any conduct to §4 / §5 / §8 / §9 / §12 and to its US and EU homes; know who enforces and what they must prove.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2.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State the SA §7 dominance thresholds from memory and explain why the share does legal work (it shifts the burden).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3.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Read an expert report by its design: question, data, identification, technique, and the plausible alternative interpretation.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4.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Build a counterfactual — randomisation ideal, natural/quasi-experiments in practice; name the threat to validity for your own design.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5.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Run the hypothetical-monopolist test, compute critical loss, and avoid the Cellophane and critical-loss fallacies (Staples as the model case).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6.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Compute HHI / ΔHHI, apply the 2023 structural presumption, and read off the four IO parameters: elasticity, margin/Lerner, diversion, pass-through.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1 — exercises (worked answers in the key)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365760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698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1.  HHI &amp; the presumption: shares 40/30/20/10. Compute HHI; the two smallest merge — post-HHI, ΔHHI; does the 2023 presumption bite?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2.  Critical loss: SSNIP t = 5%, margin m = 35%. Compute CL. If predicted actual loss is 9%, is the candidate market a relevant market?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3.  Mapping memo: for an exclusive-dealing arrangement by a 48%-share firm, state the SA / US / EU statutory home and the burden each places on you.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4.  SA public interest: give one example where §12A(3) changes a merger outcome that a pure consumer-welfare test would clear.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5.  Optional R lab: read a real concentration series — a rising ratio is a flag, not a finding.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Deliverable: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Exercises 1–2 are checkable arithmetic; 3–5 are one-paragraph answers. Key provided.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